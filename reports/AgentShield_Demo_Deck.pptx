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5" r:id="rId1"/>
    <p:sldId id="256" r:id="rId2"/>
    <p:sldId id="257" r:id="rId3"/>
    <p:sldId id="258" r:id="rId4"/>
    <p:sldId id="259" r:id="rId5"/>
    <p:sldId id="260" r:id="rId6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11F"/>
          </a:solidFill>
          <a:ln w="12000">
            <a:solidFill>
              <a:srgbClr val="07111F"/>
            </a:solidFill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D5B1"/>
          </a:solidFill>
          <a:ln w="12000">
            <a:solidFill>
              <a:srgbClr val="54D5B1"/>
            </a:solidFill>
          </a:ln>
        </p:spPr>
      </p:sp>
      <p:sp>
        <p:nvSpPr>
          <p:cNvPr id="4" name="Shape"/>
          <p:cNvSpPr/>
          <p:nvPr/>
        </p:nvSpPr>
        <p:spPr>
          <a:xfrm>
            <a:off x="640080" y="731520"/>
            <a:ext cx="932688" cy="932688"/>
          </a:xfrm>
          <a:prstGeom prst="roundRect">
            <a:avLst/>
          </a:prstGeom>
          <a:solidFill>
            <a:srgbClr val="12375A"/>
          </a:solidFill>
          <a:ln w="12000">
            <a:solidFill>
              <a:srgbClr val="54D5B1"/>
            </a:solidFill>
          </a:ln>
        </p:spPr>
      </p:sp>
      <p:sp>
        <p:nvSpPr>
          <p:cNvPr id="5" name="Text"/>
          <p:cNvSpPr/>
          <p:nvPr/>
        </p:nvSpPr>
        <p:spPr>
          <a:xfrm>
            <a:off x="932688" y="960120"/>
            <a:ext cx="365760" cy="274320"/>
          </a:xfrm>
        </p:spPr>
        <p:txBody>
          <a:bodyPr wrap="square"/>
          <a:lstStyle/>
          <a:p>
            <a:pPr algn="c"/>
            <a:r>
              <a:rPr lang="en-US" sz="2100" b="1">
                <a:solidFill>
                  <a:srgbClr val="62D7B1"/>
                </a:solidFill>
                <a:latin typeface="Aptos"/>
              </a:rPr>
              <a:t>A+</a:t>
            </a:r>
          </a:p>
        </p:txBody>
      </p:sp>
      <p:sp>
        <p:nvSpPr>
          <p:cNvPr id="6" name="Text"/>
          <p:cNvSpPr/>
          <p:nvPr/>
        </p:nvSpPr>
        <p:spPr>
          <a:xfrm>
            <a:off x="685800" y="1874519"/>
            <a:ext cx="10241280" cy="685800"/>
          </a:xfrm>
        </p:spPr>
        <p:txBody>
          <a:bodyPr wrap="square"/>
          <a:lstStyle/>
          <a:p>
            <a:pPr algn="l"/>
            <a:r>
              <a:rPr lang="en-US" sz="4200" b="1">
                <a:solidFill>
                  <a:srgbClr val="F5F9FF"/>
                </a:solidFill>
                <a:latin typeface="Aptos"/>
              </a:rPr>
              <a:t>AgentShield</a:t>
            </a:r>
          </a:p>
        </p:txBody>
      </p:sp>
      <p:sp>
        <p:nvSpPr>
          <p:cNvPr id="7" name="Text"/>
          <p:cNvSpPr/>
          <p:nvPr/>
        </p:nvSpPr>
        <p:spPr>
          <a:xfrm>
            <a:off x="713232" y="2651760"/>
            <a:ext cx="9875520" cy="685800"/>
          </a:xfrm>
        </p:spPr>
        <p:txBody>
          <a:bodyPr wrap="square"/>
          <a:lstStyle/>
          <a:p>
            <a:pPr algn="l"/>
            <a:r>
              <a:rPr lang="en-US" sz="2500">
                <a:solidFill>
                  <a:srgbClr val="B8CADB"/>
                </a:solidFill>
                <a:latin typeface="Aptos"/>
              </a:rPr>
              <a:t>Runtime security firewall</a:t>
            </a:r>
          </a:p>
          <a:p>
            <a:pPr algn="l"/>
            <a:r>
              <a:rPr lang="en-US" sz="2500">
                <a:solidFill>
                  <a:srgbClr val="B8CADB"/>
                </a:solidFill>
                <a:latin typeface="Aptos"/>
              </a:rPr>
              <a:t>for AI agents</a:t>
            </a:r>
          </a:p>
        </p:txBody>
      </p:sp>
      <p:sp>
        <p:nvSpPr>
          <p:cNvPr id="8" name="Shape"/>
          <p:cNvSpPr/>
          <p:nvPr/>
        </p:nvSpPr>
        <p:spPr>
          <a:xfrm>
            <a:off x="713232" y="3977639"/>
            <a:ext cx="4892040" cy="566928"/>
          </a:xfrm>
          <a:prstGeom prst="roundRect">
            <a:avLst/>
          </a:prstGeom>
          <a:solidFill>
            <a:srgbClr val="102A3C"/>
          </a:solidFill>
          <a:ln w="12000">
            <a:solidFill>
              <a:srgbClr val="285A67"/>
            </a:solidFill>
          </a:ln>
        </p:spPr>
      </p:sp>
      <p:sp>
        <p:nvSpPr>
          <p:cNvPr id="9" name="Text"/>
          <p:cNvSpPr/>
          <p:nvPr/>
        </p:nvSpPr>
        <p:spPr>
          <a:xfrm>
            <a:off x="932688" y="4169663"/>
            <a:ext cx="4480560" cy="182880"/>
          </a:xfrm>
        </p:spPr>
        <p:txBody>
          <a:bodyPr wrap="square"/>
          <a:lstStyle/>
          <a:p>
            <a:pPr algn="l"/>
            <a:r>
              <a:rPr lang="en-US" sz="1000" b="1">
                <a:solidFill>
                  <a:srgbClr val="62D7B1"/>
                </a:solidFill>
                <a:latin typeface="Aptos"/>
              </a:rPr>
              <a:t>DETECT  •  EXPLAIN  •  DECIDE  •  AUDIT</a:t>
            </a:r>
          </a:p>
        </p:txBody>
      </p:sp>
      <p:sp>
        <p:nvSpPr>
          <p:cNvPr id="10" name="Text"/>
          <p:cNvSpPr/>
          <p:nvPr/>
        </p:nvSpPr>
        <p:spPr>
          <a:xfrm>
            <a:off x="731520" y="5257800"/>
            <a:ext cx="6400800" cy="292608"/>
          </a:xfrm>
        </p:spPr>
        <p:txBody>
          <a:bodyPr wrap="square"/>
          <a:lstStyle/>
          <a:p>
            <a:pPr algn="l"/>
            <a:r>
              <a:rPr lang="en-US" sz="1300">
                <a:solidFill>
                  <a:srgbClr val="8AA1B8"/>
                </a:solidFill>
                <a:latin typeface="Aptos"/>
              </a:rPr>
              <a:t>Demo presentation  |  MVP security architecture</a:t>
            </a:r>
          </a:p>
        </p:txBody>
      </p:sp>
      <p:sp>
        <p:nvSpPr>
          <p:cNvPr id="11" name="Text"/>
          <p:cNvSpPr/>
          <p:nvPr/>
        </p:nvSpPr>
        <p:spPr>
          <a:xfrm>
            <a:off x="8092440" y="5157216"/>
            <a:ext cx="3246120" cy="685800"/>
          </a:xfrm>
        </p:spPr>
        <p:txBody>
          <a:bodyPr wrap="square"/>
          <a:lstStyle/>
          <a:p>
            <a:pPr algn="r"/>
            <a:r>
              <a:rPr lang="en-US" sz="1200">
                <a:solidFill>
                  <a:srgbClr val="D6E4F1"/>
                </a:solidFill>
                <a:latin typeface="Aptos"/>
              </a:rPr>
              <a:t>Team [Name]</a:t>
            </a:r>
          </a:p>
          <a:p>
            <a:pPr algn="r"/>
            <a:r>
              <a:rPr lang="en-US" sz="1200">
                <a:solidFill>
                  <a:srgbClr val="D6E4F1"/>
                </a:solidFill>
                <a:latin typeface="Aptos"/>
              </a:rPr>
              <a:t>[Member 1]  ·  [Member 2]  ·  [Member 3]</a:t>
            </a:r>
          </a:p>
        </p:txBody>
      </p:sp>
      <p:sp>
        <p:nvSpPr>
          <p:cNvPr id="12" name="Text"/>
          <p:cNvSpPr/>
          <p:nvPr/>
        </p:nvSpPr>
        <p:spPr>
          <a:xfrm>
            <a:off x="731520" y="6263640"/>
            <a:ext cx="2926080" cy="164592"/>
          </a:xfrm>
        </p:spPr>
        <p:txBody>
          <a:bodyPr wrap="square"/>
          <a:lstStyle/>
          <a:p>
            <a:pPr algn="l"/>
            <a:r>
              <a:rPr lang="en-US" sz="900">
                <a:solidFill>
                  <a:srgbClr val="58738D"/>
                </a:solidFill>
                <a:latin typeface="Aptos"/>
              </a:rPr>
              <a:t>October 2026  ·  v0.1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Shap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11F"/>
          </a:solidFill>
          <a:ln w="12000">
            <a:solidFill>
              <a:srgbClr val="07111F"/>
            </a:solidFill>
          </a:ln>
        </p:spPr>
      </p:sp>
      <p:sp>
        <p:nvSpPr>
          <p:cNvPr id="14" name="Shape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4D5B1"/>
          </a:solidFill>
          <a:ln w="12000">
            <a:solidFill>
              <a:srgbClr val="54D5B1"/>
            </a:solidFill>
          </a:ln>
        </p:spPr>
      </p:sp>
      <p:sp>
        <p:nvSpPr>
          <p:cNvPr id="15" name="Text"/>
          <p:cNvSpPr/>
          <p:nvPr/>
        </p:nvSpPr>
        <p:spPr>
          <a:xfrm>
            <a:off x="502920" y="384048"/>
            <a:ext cx="2560320" cy="274320"/>
          </a:xfrm>
        </p:spPr>
        <p:txBody>
          <a:bodyPr wrap="square"/>
          <a:lstStyle/>
          <a:p>
            <a:pPr algn="l"/>
            <a:r>
              <a:rPr lang="en-US" sz="1000" b="1">
                <a:solidFill>
                  <a:srgbClr val="62D7B1"/>
                </a:solidFill>
                <a:latin typeface="Aptos"/>
              </a:rPr>
              <a:t>AGENTSHIELD  /  DEMO</a:t>
            </a:r>
          </a:p>
        </p:txBody>
      </p:sp>
      <p:sp>
        <p:nvSpPr>
          <p:cNvPr id="16" name="Text"/>
          <p:cNvSpPr/>
          <p:nvPr/>
        </p:nvSpPr>
        <p:spPr>
          <a:xfrm>
            <a:off x="502920" y="786384"/>
            <a:ext cx="10789920" cy="530352"/>
          </a:xfrm>
        </p:spPr>
        <p:txBody>
          <a:bodyPr wrap="square"/>
          <a:lstStyle/>
          <a:p>
            <a:pPr algn="l"/>
            <a:r>
              <a:rPr lang="en-US" sz="2700" b="1">
                <a:solidFill>
                  <a:srgbClr val="F4F8FF"/>
                </a:solidFill>
                <a:latin typeface="Aptos"/>
              </a:rPr>
              <a:t>From agent autonomy to accountable action</a:t>
            </a:r>
          </a:p>
        </p:txBody>
      </p:sp>
      <p:sp>
        <p:nvSpPr>
          <p:cNvPr id="17" name="Text"/>
          <p:cNvSpPr/>
          <p:nvPr/>
        </p:nvSpPr>
        <p:spPr>
          <a:xfrm>
            <a:off x="530352" y="1389888"/>
            <a:ext cx="10515600" cy="320040"/>
          </a:xfrm>
        </p:spPr>
        <p:txBody>
          <a:bodyPr wrap="square"/>
          <a:lstStyle/>
          <a:p>
            <a:pPr algn="l"/>
            <a:r>
              <a:rPr lang="en-US" sz="1100">
                <a:solidFill>
                  <a:srgbClr val="8AA1B8"/>
                </a:solidFill>
                <a:latin typeface="Aptos"/>
              </a:rPr>
              <a:t>AgentShield treats every proposed tool action as a security decision—not an assumption of trust.</a:t>
            </a:r>
          </a:p>
        </p:txBody>
      </p:sp>
      <p:sp>
        <p:nvSpPr>
          <p:cNvPr id="18" name="Text"/>
          <p:cNvSpPr/>
          <p:nvPr/>
        </p:nvSpPr>
        <p:spPr>
          <a:xfrm>
            <a:off x="11137392" y="411480"/>
            <a:ext cx="548640" cy="228600"/>
          </a:xfrm>
        </p:spPr>
        <p:txBody>
          <a:bodyPr wrap="square"/>
          <a:lstStyle/>
          <a:p>
            <a:pPr algn="r"/>
            <a:r>
              <a:rPr lang="en-US" sz="1100" b="1">
                <a:solidFill>
                  <a:srgbClr val="6D849B"/>
                </a:solidFill>
                <a:latin typeface="Aptos"/>
              </a:rPr>
              <a:t>02</a:t>
            </a:r>
          </a:p>
        </p:txBody>
      </p:sp>
      <p:sp>
        <p:nvSpPr>
          <p:cNvPr id="19" name="Line"/>
          <p:cNvSpPr/>
          <p:nvPr/>
        </p:nvSpPr>
        <p:spPr>
          <a:xfrm>
            <a:off x="502920" y="1874519"/>
            <a:ext cx="11155680" cy="9144"/>
          </a:xfrm>
          <a:prstGeom prst="line">
            <a:avLst/>
          </a:prstGeom>
          <a:ln w="12000">
            <a:solidFill>
              <a:srgbClr val="294966"/>
            </a:solidFill>
          </a:ln>
        </p:spPr>
      </p:sp>
      <p:sp>
        <p:nvSpPr>
          <p:cNvPr id="20" name="Text"/>
          <p:cNvSpPr/>
          <p:nvPr/>
        </p:nvSpPr>
        <p:spPr>
          <a:xfrm>
            <a:off x="502920" y="6510528"/>
            <a:ext cx="7315200" cy="164592"/>
          </a:xfrm>
        </p:spPr>
        <p:txBody>
          <a:bodyPr wrap="square"/>
          <a:lstStyle/>
          <a:p>
            <a:pPr algn="l"/>
            <a:r>
              <a:rPr lang="en-US" sz="800" b="1">
                <a:solidFill>
                  <a:srgbClr val="58738D"/>
                </a:solidFill>
                <a:latin typeface="Aptos"/>
              </a:rPr>
              <a:t>THE PROBLEM / THE WEDGE</a:t>
            </a:r>
          </a:p>
        </p:txBody>
      </p:sp>
      <p:sp>
        <p:nvSpPr>
          <p:cNvPr id="21" name="Text"/>
          <p:cNvSpPr/>
          <p:nvPr/>
        </p:nvSpPr>
        <p:spPr>
          <a:xfrm>
            <a:off x="10424160" y="6510528"/>
            <a:ext cx="1234440" cy="164592"/>
          </a:xfrm>
        </p:spPr>
        <p:txBody>
          <a:bodyPr wrap="square"/>
          <a:lstStyle/>
          <a:p>
            <a:pPr algn="r"/>
            <a:r>
              <a:rPr lang="en-US" sz="800" b="1">
                <a:solidFill>
                  <a:srgbClr val="58738D"/>
                </a:solidFill>
                <a:latin typeface="Aptos"/>
              </a:rPr>
              <a:t>DEFENSE IN DEPTH</a:t>
            </a:r>
          </a:p>
        </p:txBody>
      </p:sp>
      <p:sp>
        <p:nvSpPr>
          <p:cNvPr id="22" name="Shape"/>
          <p:cNvSpPr/>
          <p:nvPr/>
        </p:nvSpPr>
        <p:spPr>
          <a:xfrm>
            <a:off x="548640" y="2148840"/>
            <a:ext cx="3474720" cy="3337560"/>
          </a:xfrm>
          <a:prstGeom prst="roundRect">
            <a:avLst/>
          </a:prstGeom>
          <a:solidFill>
            <a:srgbClr val="0C1A2A"/>
          </a:solidFill>
          <a:ln w="12000">
            <a:solidFill>
              <a:srgbClr val="1C344C"/>
            </a:solidFill>
          </a:ln>
        </p:spPr>
      </p:sp>
      <p:sp>
        <p:nvSpPr>
          <p:cNvPr id="23" name="Text"/>
          <p:cNvSpPr/>
          <p:nvPr/>
        </p:nvSpPr>
        <p:spPr>
          <a:xfrm>
            <a:off x="822960" y="2423160"/>
            <a:ext cx="2834640" cy="320040"/>
          </a:xfrm>
        </p:spPr>
        <p:txBody>
          <a:bodyPr wrap="square"/>
          <a:lstStyle/>
          <a:p>
            <a:pPr algn="l"/>
            <a:r>
              <a:rPr lang="en-US" sz="1000" b="1">
                <a:solidFill>
                  <a:srgbClr val="ED8B8F"/>
                </a:solidFill>
                <a:latin typeface="Aptos"/>
              </a:rPr>
              <a:t>THE GAP</a:t>
            </a:r>
          </a:p>
        </p:txBody>
      </p:sp>
      <p:sp>
        <p:nvSpPr>
          <p:cNvPr id="24" name="Text"/>
          <p:cNvSpPr/>
          <p:nvPr/>
        </p:nvSpPr>
        <p:spPr>
          <a:xfrm>
            <a:off x="822960" y="2880360"/>
            <a:ext cx="2834640" cy="1097280"/>
          </a:xfrm>
        </p:spPr>
        <p:txBody>
          <a:bodyPr wrap="square"/>
          <a:lstStyle/>
          <a:p>
            <a:pPr algn="l"/>
            <a:r>
              <a:rPr lang="en-US" sz="2400" b="1">
                <a:solidFill>
                  <a:srgbClr val="F5F8FC"/>
                </a:solidFill>
                <a:latin typeface="Aptos"/>
              </a:rPr>
              <a:t>Agents can be</a:t>
            </a:r>
          </a:p>
          <a:p>
            <a:pPr algn="l"/>
            <a:r>
              <a:rPr lang="en-US" sz="2400" b="1">
                <a:solidFill>
                  <a:srgbClr val="F5F8FC"/>
                </a:solidFill>
                <a:latin typeface="Aptos"/>
              </a:rPr>
              <a:t>redirected by content</a:t>
            </a:r>
          </a:p>
        </p:txBody>
      </p:sp>
      <p:sp>
        <p:nvSpPr>
          <p:cNvPr id="25" name="Text"/>
          <p:cNvSpPr/>
          <p:nvPr/>
        </p:nvSpPr>
        <p:spPr>
          <a:xfrm>
            <a:off x="822960" y="4343400"/>
            <a:ext cx="2743200" cy="731520"/>
          </a:xfrm>
        </p:spPr>
        <p:txBody>
          <a:bodyPr wrap="square"/>
          <a:lstStyle/>
          <a:p>
            <a:pPr algn="l"/>
            <a:r>
              <a:rPr lang="en-US" sz="1200">
                <a:solidFill>
                  <a:srgbClr val="8EA5B9"/>
                </a:solidFill>
                <a:latin typeface="Aptos"/>
              </a:rPr>
              <a:t>Prompt injection, secret leakage, unsafe tools, and malicious destinations are runtime problems.</a:t>
            </a:r>
          </a:p>
        </p:txBody>
      </p:sp>
      <p:sp>
        <p:nvSpPr>
          <p:cNvPr id="26" name="Shape"/>
          <p:cNvSpPr/>
          <p:nvPr/>
        </p:nvSpPr>
        <p:spPr>
          <a:xfrm>
            <a:off x="4343400" y="2148840"/>
            <a:ext cx="3474720" cy="3337560"/>
          </a:xfrm>
          <a:prstGeom prst="roundRect">
            <a:avLst/>
          </a:prstGeom>
          <a:solidFill>
            <a:srgbClr val="0E2A2A"/>
          </a:solidFill>
          <a:ln w="12000">
            <a:solidFill>
              <a:srgbClr val="245B50"/>
            </a:solidFill>
          </a:ln>
        </p:spPr>
      </p:sp>
      <p:sp>
        <p:nvSpPr>
          <p:cNvPr id="27" name="Text"/>
          <p:cNvSpPr/>
          <p:nvPr/>
        </p:nvSpPr>
        <p:spPr>
          <a:xfrm>
            <a:off x="4617720" y="2423160"/>
            <a:ext cx="2834640" cy="320040"/>
          </a:xfrm>
        </p:spPr>
        <p:txBody>
          <a:bodyPr wrap="square"/>
          <a:lstStyle/>
          <a:p>
            <a:pPr algn="l"/>
            <a:r>
              <a:rPr lang="en-US" sz="1000" b="1">
                <a:solidFill>
                  <a:srgbClr val="62D7B1"/>
                </a:solidFill>
                <a:latin typeface="Aptos"/>
              </a:rPr>
              <a:t>OUR SOLUTION</a:t>
            </a:r>
          </a:p>
        </p:txBody>
      </p:sp>
      <p:sp>
        <p:nvSpPr>
          <p:cNvPr id="28" name="Text"/>
          <p:cNvSpPr/>
          <p:nvPr/>
        </p:nvSpPr>
        <p:spPr>
          <a:xfrm>
            <a:off x="4617720" y="2880360"/>
            <a:ext cx="2834640" cy="1097280"/>
          </a:xfrm>
        </p:spPr>
        <p:txBody>
          <a:bodyPr wrap="square"/>
          <a:lstStyle/>
          <a:p>
            <a:pPr algn="l"/>
            <a:r>
              <a:rPr lang="en-US" sz="2400" b="1">
                <a:solidFill>
                  <a:srgbClr val="F5F8FC"/>
                </a:solidFill>
                <a:latin typeface="Aptos"/>
              </a:rPr>
              <a:t>A firewall before</a:t>
            </a:r>
          </a:p>
          <a:p>
            <a:pPr algn="l"/>
            <a:r>
              <a:rPr lang="en-US" sz="2400" b="1">
                <a:solidFill>
                  <a:srgbClr val="F5F8FC"/>
                </a:solidFill>
                <a:latin typeface="Aptos"/>
              </a:rPr>
              <a:t>the tool call</a:t>
            </a:r>
          </a:p>
        </p:txBody>
      </p:sp>
      <p:sp>
        <p:nvSpPr>
          <p:cNvPr id="29" name="Text"/>
          <p:cNvSpPr/>
          <p:nvPr/>
        </p:nvSpPr>
        <p:spPr>
          <a:xfrm>
            <a:off x="4617720" y="4343400"/>
            <a:ext cx="2743200" cy="731520"/>
          </a:xfrm>
        </p:spPr>
        <p:txBody>
          <a:bodyPr wrap="square"/>
          <a:lstStyle/>
          <a:p>
            <a:pPr algn="l"/>
            <a:r>
              <a:rPr lang="en-US" sz="1200">
                <a:solidFill>
                  <a:srgbClr val="A1C9C3"/>
                </a:solidFill>
                <a:latin typeface="Aptos"/>
              </a:rPr>
              <a:t>Inspect → detect → score → enforce → record. Human approval handles the middle ground.</a:t>
            </a:r>
          </a:p>
        </p:txBody>
      </p:sp>
      <p:sp>
        <p:nvSpPr>
          <p:cNvPr id="30" name="Shape"/>
          <p:cNvSpPr/>
          <p:nvPr/>
        </p:nvSpPr>
        <p:spPr>
          <a:xfrm>
            <a:off x="8138160" y="2148840"/>
            <a:ext cx="3474720" cy="3337560"/>
          </a:xfrm>
          <a:prstGeom prst="roundRect">
            <a:avLst/>
          </a:prstGeom>
          <a:solidFill>
            <a:srgbClr val="1C1D2B"/>
          </a:solidFill>
          <a:ln w="12000">
            <a:solidFill>
              <a:srgbClr val="5D4961"/>
            </a:solidFill>
          </a:ln>
        </p:spPr>
      </p:sp>
      <p:sp>
        <p:nvSpPr>
          <p:cNvPr id="31" name="Text"/>
          <p:cNvSpPr/>
          <p:nvPr/>
        </p:nvSpPr>
        <p:spPr>
          <a:xfrm>
            <a:off x="8412480" y="2423160"/>
            <a:ext cx="2834640" cy="320040"/>
          </a:xfrm>
        </p:spPr>
        <p:txBody>
          <a:bodyPr wrap="square"/>
          <a:lstStyle/>
          <a:p>
            <a:pPr algn="l"/>
            <a:r>
              <a:rPr lang="en-US" sz="1000" b="1">
                <a:solidFill>
                  <a:srgbClr val="E8BF76"/>
                </a:solidFill>
                <a:latin typeface="Aptos"/>
              </a:rPr>
              <a:t>WHY DIFFERENT</a:t>
            </a:r>
          </a:p>
        </p:txBody>
      </p:sp>
      <p:sp>
        <p:nvSpPr>
          <p:cNvPr id="32" name="Text"/>
          <p:cNvSpPr/>
          <p:nvPr/>
        </p:nvSpPr>
        <p:spPr>
          <a:xfrm>
            <a:off x="8412480" y="2880360"/>
            <a:ext cx="2834640" cy="1097280"/>
          </a:xfrm>
        </p:spPr>
        <p:txBody>
          <a:bodyPr wrap="square"/>
          <a:lstStyle/>
          <a:p>
            <a:pPr algn="l"/>
            <a:r>
              <a:rPr lang="en-US" sz="2400" b="1">
                <a:solidFill>
                  <a:srgbClr val="F5F8FC"/>
                </a:solidFill>
                <a:latin typeface="Aptos"/>
              </a:rPr>
              <a:t>Explainable</a:t>
            </a:r>
          </a:p>
          <a:p>
            <a:pPr algn="l"/>
            <a:r>
              <a:rPr lang="en-US" sz="2400" b="1">
                <a:solidFill>
                  <a:srgbClr val="F5F8FC"/>
                </a:solidFill>
                <a:latin typeface="Aptos"/>
              </a:rPr>
              <a:t>by design</a:t>
            </a:r>
          </a:p>
        </p:txBody>
      </p:sp>
      <p:sp>
        <p:nvSpPr>
          <p:cNvPr id="33" name="Text"/>
          <p:cNvSpPr/>
          <p:nvPr/>
        </p:nvSpPr>
        <p:spPr>
          <a:xfrm>
            <a:off x="8412480" y="4343400"/>
            <a:ext cx="2743200" cy="731520"/>
          </a:xfrm>
        </p:spPr>
        <p:txBody>
          <a:bodyPr wrap="square"/>
          <a:lstStyle/>
          <a:p>
            <a:pPr algn="l"/>
            <a:r>
              <a:rPr lang="en-US" sz="1200">
                <a:solidFill>
                  <a:srgbClr val="C5B28D"/>
                </a:solidFill>
                <a:latin typeface="Aptos"/>
              </a:rPr>
              <a:t>Deterministic rules, matched policies, factor-level risk, redacted audit evidence, and safe simulation.</a:t>
            </a:r>
          </a:p>
        </p:txBody>
      </p:sp>
    </p:spTree>
  </p:cSld>
  <p:transition spd="med">
    <p:fade/>
  </p:transition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" name="Shap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11F"/>
          </a:solidFill>
          <a:ln w="12000">
            <a:solidFill>
              <a:srgbClr val="07111F"/>
            </a:solidFill>
          </a:ln>
        </p:spPr>
      </p:sp>
      <p:sp>
        <p:nvSpPr>
          <p:cNvPr id="35" name="Shape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4D5B1"/>
          </a:solidFill>
          <a:ln w="12000">
            <a:solidFill>
              <a:srgbClr val="54D5B1"/>
            </a:solidFill>
          </a:ln>
        </p:spPr>
      </p:sp>
      <p:sp>
        <p:nvSpPr>
          <p:cNvPr id="36" name="Text"/>
          <p:cNvSpPr/>
          <p:nvPr/>
        </p:nvSpPr>
        <p:spPr>
          <a:xfrm>
            <a:off x="502920" y="384048"/>
            <a:ext cx="2560320" cy="274320"/>
          </a:xfrm>
        </p:spPr>
        <p:txBody>
          <a:bodyPr wrap="square"/>
          <a:lstStyle/>
          <a:p>
            <a:pPr algn="l"/>
            <a:r>
              <a:rPr lang="en-US" sz="1000" b="1">
                <a:solidFill>
                  <a:srgbClr val="62D7B1"/>
                </a:solidFill>
                <a:latin typeface="Aptos"/>
              </a:rPr>
              <a:t>AGENTSHIELD  /  DEMO</a:t>
            </a:r>
          </a:p>
        </p:txBody>
      </p:sp>
      <p:sp>
        <p:nvSpPr>
          <p:cNvPr id="37" name="Text"/>
          <p:cNvSpPr/>
          <p:nvPr/>
        </p:nvSpPr>
        <p:spPr>
          <a:xfrm>
            <a:off x="502920" y="786384"/>
            <a:ext cx="10789920" cy="530352"/>
          </a:xfrm>
        </p:spPr>
        <p:txBody>
          <a:bodyPr wrap="square"/>
          <a:lstStyle/>
          <a:p>
            <a:pPr algn="l"/>
            <a:r>
              <a:rPr lang="en-US" sz="2700" b="1">
                <a:solidFill>
                  <a:srgbClr val="F4F8FF"/>
                </a:solidFill>
                <a:latin typeface="Aptos"/>
              </a:rPr>
              <a:t>Technical approach: a decision pipeline</a:t>
            </a:r>
          </a:p>
        </p:txBody>
      </p:sp>
      <p:sp>
        <p:nvSpPr>
          <p:cNvPr id="38" name="Text"/>
          <p:cNvSpPr/>
          <p:nvPr/>
        </p:nvSpPr>
        <p:spPr>
          <a:xfrm>
            <a:off x="530352" y="1389888"/>
            <a:ext cx="10515600" cy="320040"/>
          </a:xfrm>
        </p:spPr>
        <p:txBody>
          <a:bodyPr wrap="square"/>
          <a:lstStyle/>
          <a:p>
            <a:pPr algn="l"/>
            <a:r>
              <a:rPr lang="en-US" sz="1100">
                <a:solidFill>
                  <a:srgbClr val="8AA1B8"/>
                </a:solidFill>
                <a:latin typeface="Aptos"/>
              </a:rPr>
              <a:t>The same gateway protects registered agents, custom test actions, and deterministic demo scenarios.</a:t>
            </a:r>
          </a:p>
        </p:txBody>
      </p:sp>
      <p:sp>
        <p:nvSpPr>
          <p:cNvPr id="39" name="Text"/>
          <p:cNvSpPr/>
          <p:nvPr/>
        </p:nvSpPr>
        <p:spPr>
          <a:xfrm>
            <a:off x="11137392" y="411480"/>
            <a:ext cx="548640" cy="228600"/>
          </a:xfrm>
        </p:spPr>
        <p:txBody>
          <a:bodyPr wrap="square"/>
          <a:lstStyle/>
          <a:p>
            <a:pPr algn="r"/>
            <a:r>
              <a:rPr lang="en-US" sz="1100" b="1">
                <a:solidFill>
                  <a:srgbClr val="6D849B"/>
                </a:solidFill>
                <a:latin typeface="Aptos"/>
              </a:rPr>
              <a:t>03</a:t>
            </a:r>
          </a:p>
        </p:txBody>
      </p:sp>
      <p:sp>
        <p:nvSpPr>
          <p:cNvPr id="40" name="Line"/>
          <p:cNvSpPr/>
          <p:nvPr/>
        </p:nvSpPr>
        <p:spPr>
          <a:xfrm>
            <a:off x="502920" y="1874519"/>
            <a:ext cx="11155680" cy="9144"/>
          </a:xfrm>
          <a:prstGeom prst="line">
            <a:avLst/>
          </a:prstGeom>
          <a:ln w="12000">
            <a:solidFill>
              <a:srgbClr val="294966"/>
            </a:solidFill>
          </a:ln>
        </p:spPr>
      </p:sp>
      <p:sp>
        <p:nvSpPr>
          <p:cNvPr id="41" name="Text"/>
          <p:cNvSpPr/>
          <p:nvPr/>
        </p:nvSpPr>
        <p:spPr>
          <a:xfrm>
            <a:off x="502920" y="6510528"/>
            <a:ext cx="7315200" cy="164592"/>
          </a:xfrm>
        </p:spPr>
        <p:txBody>
          <a:bodyPr wrap="square"/>
          <a:lstStyle/>
          <a:p>
            <a:pPr algn="l"/>
            <a:r>
              <a:rPr lang="en-US" sz="800" b="1">
                <a:solidFill>
                  <a:srgbClr val="58738D"/>
                </a:solidFill>
                <a:latin typeface="Aptos"/>
              </a:rPr>
              <a:t>ARCHITECTURE</a:t>
            </a:r>
          </a:p>
        </p:txBody>
      </p:sp>
      <p:sp>
        <p:nvSpPr>
          <p:cNvPr id="42" name="Text"/>
          <p:cNvSpPr/>
          <p:nvPr/>
        </p:nvSpPr>
        <p:spPr>
          <a:xfrm>
            <a:off x="10424160" y="6510528"/>
            <a:ext cx="1234440" cy="164592"/>
          </a:xfrm>
        </p:spPr>
        <p:txBody>
          <a:bodyPr wrap="square"/>
          <a:lstStyle/>
          <a:p>
            <a:pPr algn="r"/>
            <a:r>
              <a:rPr lang="en-US" sz="800" b="1">
                <a:solidFill>
                  <a:srgbClr val="58738D"/>
                </a:solidFill>
                <a:latin typeface="Aptos"/>
              </a:rPr>
              <a:t>DEFENSE IN DEPTH</a:t>
            </a:r>
          </a:p>
        </p:txBody>
      </p:sp>
      <p:sp>
        <p:nvSpPr>
          <p:cNvPr id="43" name="Shape"/>
          <p:cNvSpPr/>
          <p:nvPr/>
        </p:nvSpPr>
        <p:spPr>
          <a:xfrm>
            <a:off x="640080" y="2331720"/>
            <a:ext cx="502920" cy="502920"/>
          </a:xfrm>
          <a:prstGeom prst="roundRect">
            <a:avLst/>
          </a:prstGeom>
          <a:solidFill>
            <a:srgbClr val="12375A"/>
          </a:solidFill>
          <a:ln w="12000">
            <a:solidFill>
              <a:srgbClr val="54D5B1"/>
            </a:solidFill>
          </a:ln>
        </p:spPr>
      </p:sp>
      <p:sp>
        <p:nvSpPr>
          <p:cNvPr id="44" name="Text"/>
          <p:cNvSpPr/>
          <p:nvPr/>
        </p:nvSpPr>
        <p:spPr>
          <a:xfrm>
            <a:off x="640080" y="2468880"/>
            <a:ext cx="502920" cy="164592"/>
          </a:xfrm>
        </p:spPr>
        <p:txBody>
          <a:bodyPr wrap="square"/>
          <a:lstStyle/>
          <a:p>
            <a:pPr algn="c"/>
            <a:r>
              <a:rPr lang="en-US" sz="900" b="1">
                <a:solidFill>
                  <a:srgbClr val="62D7B1"/>
                </a:solidFill>
                <a:latin typeface="Aptos"/>
              </a:rPr>
              <a:t>01</a:t>
            </a:r>
          </a:p>
        </p:txBody>
      </p:sp>
      <p:sp>
        <p:nvSpPr>
          <p:cNvPr id="45" name="Text"/>
          <p:cNvSpPr/>
          <p:nvPr/>
        </p:nvSpPr>
        <p:spPr>
          <a:xfrm>
            <a:off x="594359" y="3063240"/>
            <a:ext cx="1920240" cy="219456"/>
          </a:xfrm>
        </p:spPr>
        <p:txBody>
          <a:bodyPr wrap="square"/>
          <a:lstStyle/>
          <a:p>
            <a:pPr algn="l"/>
            <a:r>
              <a:rPr lang="en-US" sz="1100" b="1">
                <a:solidFill>
                  <a:srgbClr val="F4F8FF"/>
                </a:solidFill>
                <a:latin typeface="Aptos"/>
              </a:rPr>
              <a:t>REQUEST</a:t>
            </a:r>
          </a:p>
        </p:txBody>
      </p:sp>
      <p:sp>
        <p:nvSpPr>
          <p:cNvPr id="46" name="Text"/>
          <p:cNvSpPr/>
          <p:nvPr/>
        </p:nvSpPr>
        <p:spPr>
          <a:xfrm>
            <a:off x="594359" y="3429000"/>
            <a:ext cx="1920240" cy="502920"/>
          </a:xfrm>
        </p:spPr>
        <p:txBody>
          <a:bodyPr wrap="square"/>
          <a:lstStyle/>
          <a:p>
            <a:pPr algn="l"/>
            <a:r>
              <a:rPr lang="en-US" sz="1300">
                <a:solidFill>
                  <a:srgbClr val="A8BBCD"/>
                </a:solidFill>
                <a:latin typeface="Aptos"/>
              </a:rPr>
              <a:t>Pydantic</a:t>
            </a:r>
          </a:p>
          <a:p>
            <a:pPr algn="l"/>
            <a:r>
              <a:rPr lang="en-US" sz="1300">
                <a:solidFill>
                  <a:srgbClr val="A8BBCD"/>
                </a:solidFill>
                <a:latin typeface="Aptos"/>
              </a:rPr>
              <a:t>validation</a:t>
            </a:r>
          </a:p>
        </p:txBody>
      </p:sp>
      <p:sp>
        <p:nvSpPr>
          <p:cNvPr id="47" name="Text"/>
          <p:cNvSpPr/>
          <p:nvPr/>
        </p:nvSpPr>
        <p:spPr>
          <a:xfrm>
            <a:off x="2423160" y="2487168"/>
            <a:ext cx="320040" cy="228600"/>
          </a:xfrm>
        </p:spPr>
        <p:txBody>
          <a:bodyPr wrap="square"/>
          <a:lstStyle/>
          <a:p>
            <a:pPr algn="l"/>
            <a:r>
              <a:rPr lang="en-US" sz="1800" b="1">
                <a:solidFill>
                  <a:srgbClr val="54D5B1"/>
                </a:solidFill>
                <a:latin typeface="Aptos"/>
              </a:rPr>
              <a:t>→</a:t>
            </a:r>
          </a:p>
        </p:txBody>
      </p:sp>
      <p:sp>
        <p:nvSpPr>
          <p:cNvPr id="48" name="Shape"/>
          <p:cNvSpPr/>
          <p:nvPr/>
        </p:nvSpPr>
        <p:spPr>
          <a:xfrm>
            <a:off x="2907791" y="2331720"/>
            <a:ext cx="502920" cy="502920"/>
          </a:xfrm>
          <a:prstGeom prst="roundRect">
            <a:avLst/>
          </a:prstGeom>
          <a:solidFill>
            <a:srgbClr val="12375A"/>
          </a:solidFill>
          <a:ln w="12000">
            <a:solidFill>
              <a:srgbClr val="54D5B1"/>
            </a:solidFill>
          </a:ln>
        </p:spPr>
      </p:sp>
      <p:sp>
        <p:nvSpPr>
          <p:cNvPr id="49" name="Text"/>
          <p:cNvSpPr/>
          <p:nvPr/>
        </p:nvSpPr>
        <p:spPr>
          <a:xfrm>
            <a:off x="2907791" y="2468880"/>
            <a:ext cx="502920" cy="164592"/>
          </a:xfrm>
        </p:spPr>
        <p:txBody>
          <a:bodyPr wrap="square"/>
          <a:lstStyle/>
          <a:p>
            <a:pPr algn="c"/>
            <a:r>
              <a:rPr lang="en-US" sz="900" b="1">
                <a:solidFill>
                  <a:srgbClr val="62D7B1"/>
                </a:solidFill>
                <a:latin typeface="Aptos"/>
              </a:rPr>
              <a:t>02</a:t>
            </a:r>
          </a:p>
        </p:txBody>
      </p:sp>
      <p:sp>
        <p:nvSpPr>
          <p:cNvPr id="50" name="Text"/>
          <p:cNvSpPr/>
          <p:nvPr/>
        </p:nvSpPr>
        <p:spPr>
          <a:xfrm>
            <a:off x="2862072" y="3063240"/>
            <a:ext cx="1920240" cy="219456"/>
          </a:xfrm>
        </p:spPr>
        <p:txBody>
          <a:bodyPr wrap="square"/>
          <a:lstStyle/>
          <a:p>
            <a:pPr algn="l"/>
            <a:r>
              <a:rPr lang="en-US" sz="1100" b="1">
                <a:solidFill>
                  <a:srgbClr val="F4F8FF"/>
                </a:solidFill>
                <a:latin typeface="Aptos"/>
              </a:rPr>
              <a:t>DETECT</a:t>
            </a:r>
          </a:p>
        </p:txBody>
      </p:sp>
      <p:sp>
        <p:nvSpPr>
          <p:cNvPr id="51" name="Text"/>
          <p:cNvSpPr/>
          <p:nvPr/>
        </p:nvSpPr>
        <p:spPr>
          <a:xfrm>
            <a:off x="2862072" y="3429000"/>
            <a:ext cx="1920240" cy="502920"/>
          </a:xfrm>
        </p:spPr>
        <p:txBody>
          <a:bodyPr wrap="square"/>
          <a:lstStyle/>
          <a:p>
            <a:pPr algn="l"/>
            <a:r>
              <a:rPr lang="en-US" sz="1300">
                <a:solidFill>
                  <a:srgbClr val="A8BBCD"/>
                </a:solidFill>
                <a:latin typeface="Aptos"/>
              </a:rPr>
              <a:t>Injection +</a:t>
            </a:r>
          </a:p>
          <a:p>
            <a:pPr algn="l"/>
            <a:r>
              <a:rPr lang="en-US" sz="1300">
                <a:solidFill>
                  <a:srgbClr val="A8BBCD"/>
                </a:solidFill>
                <a:latin typeface="Aptos"/>
              </a:rPr>
              <a:t>sensitive data</a:t>
            </a:r>
          </a:p>
        </p:txBody>
      </p:sp>
      <p:sp>
        <p:nvSpPr>
          <p:cNvPr id="52" name="Text"/>
          <p:cNvSpPr/>
          <p:nvPr/>
        </p:nvSpPr>
        <p:spPr>
          <a:xfrm>
            <a:off x="4690872" y="2487168"/>
            <a:ext cx="320040" cy="228600"/>
          </a:xfrm>
        </p:spPr>
        <p:txBody>
          <a:bodyPr wrap="square"/>
          <a:lstStyle/>
          <a:p>
            <a:pPr algn="l"/>
            <a:r>
              <a:rPr lang="en-US" sz="1800" b="1">
                <a:solidFill>
                  <a:srgbClr val="54D5B1"/>
                </a:solidFill>
                <a:latin typeface="Aptos"/>
              </a:rPr>
              <a:t>→</a:t>
            </a:r>
          </a:p>
        </p:txBody>
      </p:sp>
      <p:sp>
        <p:nvSpPr>
          <p:cNvPr id="53" name="Shape"/>
          <p:cNvSpPr/>
          <p:nvPr/>
        </p:nvSpPr>
        <p:spPr>
          <a:xfrm>
            <a:off x="5175504" y="2331720"/>
            <a:ext cx="502920" cy="502920"/>
          </a:xfrm>
          <a:prstGeom prst="roundRect">
            <a:avLst/>
          </a:prstGeom>
          <a:solidFill>
            <a:srgbClr val="12375A"/>
          </a:solidFill>
          <a:ln w="12000">
            <a:solidFill>
              <a:srgbClr val="54D5B1"/>
            </a:solidFill>
          </a:ln>
        </p:spPr>
      </p:sp>
      <p:sp>
        <p:nvSpPr>
          <p:cNvPr id="54" name="Text"/>
          <p:cNvSpPr/>
          <p:nvPr/>
        </p:nvSpPr>
        <p:spPr>
          <a:xfrm>
            <a:off x="5175504" y="2468880"/>
            <a:ext cx="502920" cy="164592"/>
          </a:xfrm>
        </p:spPr>
        <p:txBody>
          <a:bodyPr wrap="square"/>
          <a:lstStyle/>
          <a:p>
            <a:pPr algn="c"/>
            <a:r>
              <a:rPr lang="en-US" sz="900" b="1">
                <a:solidFill>
                  <a:srgbClr val="62D7B1"/>
                </a:solidFill>
                <a:latin typeface="Aptos"/>
              </a:rPr>
              <a:t>03</a:t>
            </a:r>
          </a:p>
        </p:txBody>
      </p:sp>
      <p:sp>
        <p:nvSpPr>
          <p:cNvPr id="55" name="Text"/>
          <p:cNvSpPr/>
          <p:nvPr/>
        </p:nvSpPr>
        <p:spPr>
          <a:xfrm>
            <a:off x="5129784" y="3063240"/>
            <a:ext cx="1920240" cy="219456"/>
          </a:xfrm>
        </p:spPr>
        <p:txBody>
          <a:bodyPr wrap="square"/>
          <a:lstStyle/>
          <a:p>
            <a:pPr algn="l"/>
            <a:r>
              <a:rPr lang="en-US" sz="1100" b="1">
                <a:solidFill>
                  <a:srgbClr val="F4F8FF"/>
                </a:solidFill>
                <a:latin typeface="Aptos"/>
              </a:rPr>
              <a:t>DECIDE</a:t>
            </a:r>
          </a:p>
        </p:txBody>
      </p:sp>
      <p:sp>
        <p:nvSpPr>
          <p:cNvPr id="56" name="Text"/>
          <p:cNvSpPr/>
          <p:nvPr/>
        </p:nvSpPr>
        <p:spPr>
          <a:xfrm>
            <a:off x="5129784" y="3429000"/>
            <a:ext cx="1920240" cy="502920"/>
          </a:xfrm>
        </p:spPr>
        <p:txBody>
          <a:bodyPr wrap="square"/>
          <a:lstStyle/>
          <a:p>
            <a:pPr algn="l"/>
            <a:r>
              <a:rPr lang="en-US" sz="1300">
                <a:solidFill>
                  <a:srgbClr val="A8BBCD"/>
                </a:solidFill>
                <a:latin typeface="Aptos"/>
              </a:rPr>
              <a:t>Policy +</a:t>
            </a:r>
          </a:p>
          <a:p>
            <a:pPr algn="l"/>
            <a:r>
              <a:rPr lang="en-US" sz="1300">
                <a:solidFill>
                  <a:srgbClr val="A8BBCD"/>
                </a:solidFill>
                <a:latin typeface="Aptos"/>
              </a:rPr>
              <a:t>risk score</a:t>
            </a:r>
          </a:p>
        </p:txBody>
      </p:sp>
      <p:sp>
        <p:nvSpPr>
          <p:cNvPr id="57" name="Text"/>
          <p:cNvSpPr/>
          <p:nvPr/>
        </p:nvSpPr>
        <p:spPr>
          <a:xfrm>
            <a:off x="6958584" y="2487168"/>
            <a:ext cx="320040" cy="228600"/>
          </a:xfrm>
        </p:spPr>
        <p:txBody>
          <a:bodyPr wrap="square"/>
          <a:lstStyle/>
          <a:p>
            <a:pPr algn="l"/>
            <a:r>
              <a:rPr lang="en-US" sz="1800" b="1">
                <a:solidFill>
                  <a:srgbClr val="54D5B1"/>
                </a:solidFill>
                <a:latin typeface="Aptos"/>
              </a:rPr>
              <a:t>→</a:t>
            </a:r>
          </a:p>
        </p:txBody>
      </p:sp>
      <p:sp>
        <p:nvSpPr>
          <p:cNvPr id="58" name="Shape"/>
          <p:cNvSpPr/>
          <p:nvPr/>
        </p:nvSpPr>
        <p:spPr>
          <a:xfrm>
            <a:off x="7443215" y="2331720"/>
            <a:ext cx="502920" cy="502920"/>
          </a:xfrm>
          <a:prstGeom prst="roundRect">
            <a:avLst/>
          </a:prstGeom>
          <a:solidFill>
            <a:srgbClr val="12375A"/>
          </a:solidFill>
          <a:ln w="12000">
            <a:solidFill>
              <a:srgbClr val="54D5B1"/>
            </a:solidFill>
          </a:ln>
        </p:spPr>
      </p:sp>
      <p:sp>
        <p:nvSpPr>
          <p:cNvPr id="59" name="Text"/>
          <p:cNvSpPr/>
          <p:nvPr/>
        </p:nvSpPr>
        <p:spPr>
          <a:xfrm>
            <a:off x="7443215" y="2468880"/>
            <a:ext cx="502920" cy="164592"/>
          </a:xfrm>
        </p:spPr>
        <p:txBody>
          <a:bodyPr wrap="square"/>
          <a:lstStyle/>
          <a:p>
            <a:pPr algn="c"/>
            <a:r>
              <a:rPr lang="en-US" sz="900" b="1">
                <a:solidFill>
                  <a:srgbClr val="62D7B1"/>
                </a:solidFill>
                <a:latin typeface="Aptos"/>
              </a:rPr>
              <a:t>04</a:t>
            </a:r>
          </a:p>
        </p:txBody>
      </p:sp>
      <p:sp>
        <p:nvSpPr>
          <p:cNvPr id="60" name="Text"/>
          <p:cNvSpPr/>
          <p:nvPr/>
        </p:nvSpPr>
        <p:spPr>
          <a:xfrm>
            <a:off x="7397495" y="3063240"/>
            <a:ext cx="1920240" cy="219456"/>
          </a:xfrm>
        </p:spPr>
        <p:txBody>
          <a:bodyPr wrap="square"/>
          <a:lstStyle/>
          <a:p>
            <a:pPr algn="l"/>
            <a:r>
              <a:rPr lang="en-US" sz="1100" b="1">
                <a:solidFill>
                  <a:srgbClr val="F4F8FF"/>
                </a:solidFill>
                <a:latin typeface="Aptos"/>
              </a:rPr>
              <a:t>CONTROL</a:t>
            </a:r>
          </a:p>
        </p:txBody>
      </p:sp>
      <p:sp>
        <p:nvSpPr>
          <p:cNvPr id="61" name="Text"/>
          <p:cNvSpPr/>
          <p:nvPr/>
        </p:nvSpPr>
        <p:spPr>
          <a:xfrm>
            <a:off x="7397495" y="3429000"/>
            <a:ext cx="1920240" cy="502920"/>
          </a:xfrm>
        </p:spPr>
        <p:txBody>
          <a:bodyPr wrap="square"/>
          <a:lstStyle/>
          <a:p>
            <a:pPr algn="l"/>
            <a:r>
              <a:rPr lang="en-US" sz="1300">
                <a:solidFill>
                  <a:srgbClr val="A8BBCD"/>
                </a:solidFill>
                <a:latin typeface="Aptos"/>
              </a:rPr>
              <a:t>Allow / block /</a:t>
            </a:r>
          </a:p>
          <a:p>
            <a:pPr algn="l"/>
            <a:r>
              <a:rPr lang="en-US" sz="1300">
                <a:solidFill>
                  <a:srgbClr val="A8BBCD"/>
                </a:solidFill>
                <a:latin typeface="Aptos"/>
              </a:rPr>
              <a:t>approval / redact</a:t>
            </a:r>
          </a:p>
        </p:txBody>
      </p:sp>
      <p:sp>
        <p:nvSpPr>
          <p:cNvPr id="62" name="Text"/>
          <p:cNvSpPr/>
          <p:nvPr/>
        </p:nvSpPr>
        <p:spPr>
          <a:xfrm>
            <a:off x="9226295" y="2487168"/>
            <a:ext cx="320040" cy="228600"/>
          </a:xfrm>
        </p:spPr>
        <p:txBody>
          <a:bodyPr wrap="square"/>
          <a:lstStyle/>
          <a:p>
            <a:pPr algn="l"/>
            <a:r>
              <a:rPr lang="en-US" sz="1800" b="1">
                <a:solidFill>
                  <a:srgbClr val="54D5B1"/>
                </a:solidFill>
                <a:latin typeface="Aptos"/>
              </a:rPr>
              <a:t>→</a:t>
            </a:r>
          </a:p>
        </p:txBody>
      </p:sp>
      <p:sp>
        <p:nvSpPr>
          <p:cNvPr id="63" name="Shape"/>
          <p:cNvSpPr/>
          <p:nvPr/>
        </p:nvSpPr>
        <p:spPr>
          <a:xfrm>
            <a:off x="9710928" y="2331720"/>
            <a:ext cx="502920" cy="502920"/>
          </a:xfrm>
          <a:prstGeom prst="roundRect">
            <a:avLst/>
          </a:prstGeom>
          <a:solidFill>
            <a:srgbClr val="12375A"/>
          </a:solidFill>
          <a:ln w="12000">
            <a:solidFill>
              <a:srgbClr val="54D5B1"/>
            </a:solidFill>
          </a:ln>
        </p:spPr>
      </p:sp>
      <p:sp>
        <p:nvSpPr>
          <p:cNvPr id="64" name="Text"/>
          <p:cNvSpPr/>
          <p:nvPr/>
        </p:nvSpPr>
        <p:spPr>
          <a:xfrm>
            <a:off x="9710928" y="2468880"/>
            <a:ext cx="502920" cy="164592"/>
          </a:xfrm>
        </p:spPr>
        <p:txBody>
          <a:bodyPr wrap="square"/>
          <a:lstStyle/>
          <a:p>
            <a:pPr algn="c"/>
            <a:r>
              <a:rPr lang="en-US" sz="900" b="1">
                <a:solidFill>
                  <a:srgbClr val="62D7B1"/>
                </a:solidFill>
                <a:latin typeface="Aptos"/>
              </a:rPr>
              <a:t>05</a:t>
            </a:r>
          </a:p>
        </p:txBody>
      </p:sp>
      <p:sp>
        <p:nvSpPr>
          <p:cNvPr id="65" name="Text"/>
          <p:cNvSpPr/>
          <p:nvPr/>
        </p:nvSpPr>
        <p:spPr>
          <a:xfrm>
            <a:off x="9665207" y="3063240"/>
            <a:ext cx="1920240" cy="219456"/>
          </a:xfrm>
        </p:spPr>
        <p:txBody>
          <a:bodyPr wrap="square"/>
          <a:lstStyle/>
          <a:p>
            <a:pPr algn="l"/>
            <a:r>
              <a:rPr lang="en-US" sz="1100" b="1">
                <a:solidFill>
                  <a:srgbClr val="F4F8FF"/>
                </a:solidFill>
                <a:latin typeface="Aptos"/>
              </a:rPr>
              <a:t>PROVE</a:t>
            </a:r>
          </a:p>
        </p:txBody>
      </p:sp>
      <p:sp>
        <p:nvSpPr>
          <p:cNvPr id="66" name="Text"/>
          <p:cNvSpPr/>
          <p:nvPr/>
        </p:nvSpPr>
        <p:spPr>
          <a:xfrm>
            <a:off x="9665207" y="3429000"/>
            <a:ext cx="1920240" cy="502920"/>
          </a:xfrm>
        </p:spPr>
        <p:txBody>
          <a:bodyPr wrap="square"/>
          <a:lstStyle/>
          <a:p>
            <a:pPr algn="l"/>
            <a:r>
              <a:rPr lang="en-US" sz="1300">
                <a:solidFill>
                  <a:srgbClr val="A8BBCD"/>
                </a:solidFill>
                <a:latin typeface="Aptos"/>
              </a:rPr>
              <a:t>SQLite +</a:t>
            </a:r>
          </a:p>
          <a:p>
            <a:pPr algn="l"/>
            <a:r>
              <a:rPr lang="en-US" sz="1300">
                <a:solidFill>
                  <a:srgbClr val="A8BBCD"/>
                </a:solidFill>
                <a:latin typeface="Aptos"/>
              </a:rPr>
              <a:t>audit trail</a:t>
            </a:r>
          </a:p>
        </p:txBody>
      </p:sp>
      <p:sp>
        <p:nvSpPr>
          <p:cNvPr id="67" name="Text"/>
          <p:cNvSpPr/>
          <p:nvPr/>
        </p:nvSpPr>
        <p:spPr>
          <a:xfrm>
            <a:off x="11494007" y="2487168"/>
            <a:ext cx="320040" cy="228600"/>
          </a:xfrm>
        </p:spPr>
        <p:txBody>
          <a:bodyPr wrap="square"/>
          <a:lstStyle/>
          <a:p>
            <a:pPr algn="l"/>
            <a:r>
              <a:rPr lang="en-US" sz="1800" b="1">
                <a:solidFill>
                  <a:srgbClr val="54D5B1"/>
                </a:solidFill>
                <a:latin typeface="Aptos"/>
              </a:rPr>
              <a:t/>
            </a:r>
          </a:p>
        </p:txBody>
      </p:sp>
      <p:sp>
        <p:nvSpPr>
          <p:cNvPr id="68" name="Shape"/>
          <p:cNvSpPr/>
          <p:nvPr/>
        </p:nvSpPr>
        <p:spPr>
          <a:xfrm>
            <a:off x="640080" y="4572000"/>
            <a:ext cx="10744200" cy="1005840"/>
          </a:xfrm>
          <a:prstGeom prst="roundRect">
            <a:avLst/>
          </a:prstGeom>
          <a:solidFill>
            <a:srgbClr val="0C1A2A"/>
          </a:solidFill>
          <a:ln w="12000">
            <a:solidFill>
              <a:srgbClr val="1C344C"/>
            </a:solidFill>
          </a:ln>
        </p:spPr>
      </p:sp>
      <p:sp>
        <p:nvSpPr>
          <p:cNvPr id="69" name="Text"/>
          <p:cNvSpPr/>
          <p:nvPr/>
        </p:nvSpPr>
        <p:spPr>
          <a:xfrm>
            <a:off x="896112" y="4800600"/>
            <a:ext cx="10241280" cy="256032"/>
          </a:xfrm>
        </p:spPr>
        <p:txBody>
          <a:bodyPr wrap="square"/>
          <a:lstStyle/>
          <a:p>
            <a:pPr algn="l"/>
            <a:r>
              <a:rPr lang="en-US" sz="900" b="1">
                <a:solidFill>
                  <a:srgbClr val="62D7B1"/>
                </a:solidFill>
                <a:latin typeface="Aptos"/>
              </a:rPr>
              <a:t>STACK</a:t>
            </a:r>
          </a:p>
        </p:txBody>
      </p:sp>
      <p:sp>
        <p:nvSpPr>
          <p:cNvPr id="70" name="Text"/>
          <p:cNvSpPr/>
          <p:nvPr/>
        </p:nvSpPr>
        <p:spPr>
          <a:xfrm>
            <a:off x="896112" y="5138928"/>
            <a:ext cx="10149840" cy="228600"/>
          </a:xfrm>
        </p:spPr>
        <p:txBody>
          <a:bodyPr wrap="square"/>
          <a:lstStyle/>
          <a:p>
            <a:pPr algn="l"/>
            <a:r>
              <a:rPr lang="en-US" sz="1200">
                <a:solidFill>
                  <a:srgbClr val="DDE8F2"/>
                </a:solidFill>
                <a:latin typeface="Aptos"/>
              </a:rPr>
              <a:t>FastAPI  ·  Pydantic  ·  SQLAlchemy  ·  SQLite  ·  React  ·  TypeScript  ·  Vite  ·  Tailwind CSS  ·  Pytest  ·  Vitest</a:t>
            </a:r>
          </a:p>
        </p:txBody>
      </p:sp>
    </p:spTree>
  </p:cSld>
  <p:transition spd="med">
    <p:fade/>
  </p:transition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" name="Shap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11F"/>
          </a:solidFill>
          <a:ln w="12000">
            <a:solidFill>
              <a:srgbClr val="07111F"/>
            </a:solidFill>
          </a:ln>
        </p:spPr>
      </p:sp>
      <p:sp>
        <p:nvSpPr>
          <p:cNvPr id="72" name="Shape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4D5B1"/>
          </a:solidFill>
          <a:ln w="12000">
            <a:solidFill>
              <a:srgbClr val="54D5B1"/>
            </a:solidFill>
          </a:ln>
        </p:spPr>
      </p:sp>
      <p:sp>
        <p:nvSpPr>
          <p:cNvPr id="73" name="Text"/>
          <p:cNvSpPr/>
          <p:nvPr/>
        </p:nvSpPr>
        <p:spPr>
          <a:xfrm>
            <a:off x="502920" y="384048"/>
            <a:ext cx="2560320" cy="274320"/>
          </a:xfrm>
        </p:spPr>
        <p:txBody>
          <a:bodyPr wrap="square"/>
          <a:lstStyle/>
          <a:p>
            <a:pPr algn="l"/>
            <a:r>
              <a:rPr lang="en-US" sz="1000" b="1">
                <a:solidFill>
                  <a:srgbClr val="62D7B1"/>
                </a:solidFill>
                <a:latin typeface="Aptos"/>
              </a:rPr>
              <a:t>AGENTSHIELD  /  DEMO</a:t>
            </a:r>
          </a:p>
        </p:txBody>
      </p:sp>
      <p:sp>
        <p:nvSpPr>
          <p:cNvPr id="74" name="Text"/>
          <p:cNvSpPr/>
          <p:nvPr/>
        </p:nvSpPr>
        <p:spPr>
          <a:xfrm>
            <a:off x="502920" y="786384"/>
            <a:ext cx="10789920" cy="530352"/>
          </a:xfrm>
        </p:spPr>
        <p:txBody>
          <a:bodyPr wrap="square"/>
          <a:lstStyle/>
          <a:p>
            <a:pPr algn="l"/>
            <a:r>
              <a:rPr lang="en-US" sz="2700" b="1">
                <a:solidFill>
                  <a:srgbClr val="F4F8FF"/>
                </a:solidFill>
                <a:latin typeface="Aptos"/>
              </a:rPr>
              <a:t>Feasible now. Valuable at scale.</a:t>
            </a:r>
          </a:p>
        </p:txBody>
      </p:sp>
      <p:sp>
        <p:nvSpPr>
          <p:cNvPr id="75" name="Text"/>
          <p:cNvSpPr/>
          <p:nvPr/>
        </p:nvSpPr>
        <p:spPr>
          <a:xfrm>
            <a:off x="530352" y="1389888"/>
            <a:ext cx="10515600" cy="320040"/>
          </a:xfrm>
        </p:spPr>
        <p:txBody>
          <a:bodyPr wrap="square"/>
          <a:lstStyle/>
          <a:p>
            <a:pPr algn="l"/>
            <a:r>
              <a:rPr lang="en-US" sz="1100">
                <a:solidFill>
                  <a:srgbClr val="8AA1B8"/>
                </a:solidFill>
                <a:latin typeface="Aptos"/>
              </a:rPr>
              <a:t>The MVP is deliberately simulator-first: no real shell, upload, email, or malicious-site contact is required to prove the control loop.</a:t>
            </a:r>
          </a:p>
        </p:txBody>
      </p:sp>
      <p:sp>
        <p:nvSpPr>
          <p:cNvPr id="76" name="Text"/>
          <p:cNvSpPr/>
          <p:nvPr/>
        </p:nvSpPr>
        <p:spPr>
          <a:xfrm>
            <a:off x="11137392" y="411480"/>
            <a:ext cx="548640" cy="228600"/>
          </a:xfrm>
        </p:spPr>
        <p:txBody>
          <a:bodyPr wrap="square"/>
          <a:lstStyle/>
          <a:p>
            <a:pPr algn="r"/>
            <a:r>
              <a:rPr lang="en-US" sz="1100" b="1">
                <a:solidFill>
                  <a:srgbClr val="6D849B"/>
                </a:solidFill>
                <a:latin typeface="Aptos"/>
              </a:rPr>
              <a:t>04</a:t>
            </a:r>
          </a:p>
        </p:txBody>
      </p:sp>
      <p:sp>
        <p:nvSpPr>
          <p:cNvPr id="77" name="Line"/>
          <p:cNvSpPr/>
          <p:nvPr/>
        </p:nvSpPr>
        <p:spPr>
          <a:xfrm>
            <a:off x="502920" y="1874519"/>
            <a:ext cx="11155680" cy="9144"/>
          </a:xfrm>
          <a:prstGeom prst="line">
            <a:avLst/>
          </a:prstGeom>
          <a:ln w="12000">
            <a:solidFill>
              <a:srgbClr val="294966"/>
            </a:solidFill>
          </a:ln>
        </p:spPr>
      </p:sp>
      <p:sp>
        <p:nvSpPr>
          <p:cNvPr id="78" name="Text"/>
          <p:cNvSpPr/>
          <p:nvPr/>
        </p:nvSpPr>
        <p:spPr>
          <a:xfrm>
            <a:off x="502920" y="6510528"/>
            <a:ext cx="7315200" cy="164592"/>
          </a:xfrm>
        </p:spPr>
        <p:txBody>
          <a:bodyPr wrap="square"/>
          <a:lstStyle/>
          <a:p>
            <a:pPr algn="l"/>
            <a:r>
              <a:rPr lang="en-US" sz="800" b="1">
                <a:solidFill>
                  <a:srgbClr val="58738D"/>
                </a:solidFill>
                <a:latin typeface="Aptos"/>
              </a:rPr>
              <a:t>DELIVERY CONFIDENCE</a:t>
            </a:r>
          </a:p>
        </p:txBody>
      </p:sp>
      <p:sp>
        <p:nvSpPr>
          <p:cNvPr id="79" name="Text"/>
          <p:cNvSpPr/>
          <p:nvPr/>
        </p:nvSpPr>
        <p:spPr>
          <a:xfrm>
            <a:off x="10424160" y="6510528"/>
            <a:ext cx="1234440" cy="164592"/>
          </a:xfrm>
        </p:spPr>
        <p:txBody>
          <a:bodyPr wrap="square"/>
          <a:lstStyle/>
          <a:p>
            <a:pPr algn="r"/>
            <a:r>
              <a:rPr lang="en-US" sz="800" b="1">
                <a:solidFill>
                  <a:srgbClr val="58738D"/>
                </a:solidFill>
                <a:latin typeface="Aptos"/>
              </a:rPr>
              <a:t>DEFENSE IN DEPTH</a:t>
            </a:r>
          </a:p>
        </p:txBody>
      </p:sp>
      <p:sp>
        <p:nvSpPr>
          <p:cNvPr id="80" name="Shape"/>
          <p:cNvSpPr/>
          <p:nvPr/>
        </p:nvSpPr>
        <p:spPr>
          <a:xfrm>
            <a:off x="640080" y="2148840"/>
            <a:ext cx="5212080" cy="3429000"/>
          </a:xfrm>
          <a:prstGeom prst="roundRect">
            <a:avLst/>
          </a:prstGeom>
          <a:solidFill>
            <a:srgbClr val="0C1A2A"/>
          </a:solidFill>
          <a:ln w="12000">
            <a:solidFill>
              <a:srgbClr val="1C344C"/>
            </a:solidFill>
          </a:ln>
        </p:spPr>
      </p:sp>
      <p:sp>
        <p:nvSpPr>
          <p:cNvPr id="81" name="Text"/>
          <p:cNvSpPr/>
          <p:nvPr/>
        </p:nvSpPr>
        <p:spPr>
          <a:xfrm>
            <a:off x="914400" y="2468880"/>
            <a:ext cx="4389120" cy="274320"/>
          </a:xfrm>
        </p:spPr>
        <p:txBody>
          <a:bodyPr wrap="square"/>
          <a:lstStyle/>
          <a:p>
            <a:pPr algn="l"/>
            <a:r>
              <a:rPr lang="en-US" sz="1000" b="1">
                <a:solidFill>
                  <a:srgbClr val="62D7B1"/>
                </a:solidFill>
                <a:latin typeface="Aptos"/>
              </a:rPr>
              <a:t>FEASIBILITY</a:t>
            </a:r>
          </a:p>
        </p:txBody>
      </p:sp>
      <p:sp>
        <p:nvSpPr>
          <p:cNvPr id="82" name="Text"/>
          <p:cNvSpPr/>
          <p:nvPr/>
        </p:nvSpPr>
        <p:spPr>
          <a:xfrm>
            <a:off x="914400" y="2926080"/>
            <a:ext cx="4297680" cy="502920"/>
          </a:xfrm>
        </p:spPr>
        <p:txBody>
          <a:bodyPr wrap="square"/>
          <a:lstStyle/>
          <a:p>
            <a:pPr algn="l"/>
            <a:r>
              <a:rPr lang="en-US" sz="2200" b="1">
                <a:solidFill>
                  <a:srgbClr val="F5F8FF"/>
                </a:solidFill>
                <a:latin typeface="Aptos"/>
              </a:rPr>
              <a:t>Small, typed, testable core</a:t>
            </a:r>
          </a:p>
        </p:txBody>
      </p:sp>
      <p:sp>
        <p:nvSpPr>
          <p:cNvPr id="83" name="Text"/>
          <p:cNvSpPr/>
          <p:nvPr/>
        </p:nvSpPr>
        <p:spPr>
          <a:xfrm>
            <a:off x="914400" y="3703320"/>
            <a:ext cx="4389120" cy="1234440"/>
          </a:xfrm>
        </p:spPr>
        <p:txBody>
          <a:bodyPr wrap="square"/>
          <a:lstStyle/>
          <a:p>
            <a:pPr algn="l"/>
            <a:r>
              <a:rPr lang="en-US" sz="1300">
                <a:solidFill>
                  <a:srgbClr val="A8BBCD"/>
                </a:solidFill>
                <a:latin typeface="Aptos"/>
              </a:rPr>
              <a:t>• Deterministic detectors and policy rules</a:t>
            </a:r>
          </a:p>
          <a:p>
            <a:pPr algn="l"/>
            <a:r>
              <a:rPr lang="en-US" sz="1300">
                <a:solidFill>
                  <a:srgbClr val="A8BBCD"/>
                </a:solidFill>
                <a:latin typeface="Aptos"/>
              </a:rPr>
              <a:t>• SQLite persistence for the MVP</a:t>
            </a:r>
          </a:p>
          <a:p>
            <a:pPr algn="l"/>
            <a:r>
              <a:rPr lang="en-US" sz="1300">
                <a:solidFill>
                  <a:srgbClr val="A8BBCD"/>
                </a:solidFill>
                <a:latin typeface="Aptos"/>
              </a:rPr>
              <a:t>• FastAPI gateway with strict schemas</a:t>
            </a:r>
          </a:p>
          <a:p>
            <a:pPr algn="l"/>
            <a:r>
              <a:rPr lang="en-US" sz="1300">
                <a:solidFill>
                  <a:srgbClr val="A8BBCD"/>
                </a:solidFill>
                <a:latin typeface="Aptos"/>
              </a:rPr>
              <a:t>• Local simulator works without an LLM</a:t>
            </a:r>
          </a:p>
        </p:txBody>
      </p:sp>
      <p:sp>
        <p:nvSpPr>
          <p:cNvPr id="84" name="Shape"/>
          <p:cNvSpPr/>
          <p:nvPr/>
        </p:nvSpPr>
        <p:spPr>
          <a:xfrm>
            <a:off x="6263640" y="2148840"/>
            <a:ext cx="5212080" cy="3429000"/>
          </a:xfrm>
          <a:prstGeom prst="roundRect">
            <a:avLst/>
          </a:prstGeom>
          <a:solidFill>
            <a:srgbClr val="102A2A"/>
          </a:solidFill>
          <a:ln w="12000">
            <a:solidFill>
              <a:srgbClr val="245B50"/>
            </a:solidFill>
          </a:ln>
        </p:spPr>
      </p:sp>
      <p:sp>
        <p:nvSpPr>
          <p:cNvPr id="85" name="Text"/>
          <p:cNvSpPr/>
          <p:nvPr/>
        </p:nvSpPr>
        <p:spPr>
          <a:xfrm>
            <a:off x="6537960" y="2468880"/>
            <a:ext cx="4389120" cy="274320"/>
          </a:xfrm>
        </p:spPr>
        <p:txBody>
          <a:bodyPr wrap="square"/>
          <a:lstStyle/>
          <a:p>
            <a:pPr algn="l"/>
            <a:r>
              <a:rPr lang="en-US" sz="1000" b="1">
                <a:solidFill>
                  <a:srgbClr val="62D7B1"/>
                </a:solidFill>
                <a:latin typeface="Aptos"/>
              </a:rPr>
              <a:t>VIABILITY</a:t>
            </a:r>
          </a:p>
        </p:txBody>
      </p:sp>
      <p:sp>
        <p:nvSpPr>
          <p:cNvPr id="86" name="Text"/>
          <p:cNvSpPr/>
          <p:nvPr/>
        </p:nvSpPr>
        <p:spPr>
          <a:xfrm>
            <a:off x="6537960" y="2926080"/>
            <a:ext cx="4297680" cy="502920"/>
          </a:xfrm>
        </p:spPr>
        <p:txBody>
          <a:bodyPr wrap="square"/>
          <a:lstStyle/>
          <a:p>
            <a:pPr algn="l"/>
            <a:r>
              <a:rPr lang="en-US" sz="2200" b="1">
                <a:solidFill>
                  <a:srgbClr val="F5F8FF"/>
                </a:solidFill>
                <a:latin typeface="Aptos"/>
              </a:rPr>
              <a:t>A control plane, not a chatbot</a:t>
            </a:r>
          </a:p>
        </p:txBody>
      </p:sp>
      <p:sp>
        <p:nvSpPr>
          <p:cNvPr id="87" name="Text"/>
          <p:cNvSpPr/>
          <p:nvPr/>
        </p:nvSpPr>
        <p:spPr>
          <a:xfrm>
            <a:off x="6537960" y="3703320"/>
            <a:ext cx="4389120" cy="1234440"/>
          </a:xfrm>
        </p:spPr>
        <p:txBody>
          <a:bodyPr wrap="square"/>
          <a:lstStyle/>
          <a:p>
            <a:pPr algn="l"/>
            <a:r>
              <a:rPr lang="en-US" sz="1300">
                <a:solidFill>
                  <a:srgbClr val="A1C9C3"/>
                </a:solidFill>
                <a:latin typeface="Aptos"/>
              </a:rPr>
              <a:t>• Works across agents through one gateway</a:t>
            </a:r>
          </a:p>
          <a:p>
            <a:pPr algn="l"/>
            <a:r>
              <a:rPr lang="en-US" sz="1300">
                <a:solidFill>
                  <a:srgbClr val="A1C9C3"/>
                </a:solidFill>
                <a:latin typeface="Aptos"/>
              </a:rPr>
              <a:t>• Human approval for material risk</a:t>
            </a:r>
          </a:p>
          <a:p>
            <a:pPr algn="l"/>
            <a:r>
              <a:rPr lang="en-US" sz="1300">
                <a:solidFill>
                  <a:srgbClr val="A1C9C3"/>
                </a:solidFill>
                <a:latin typeface="Aptos"/>
              </a:rPr>
              <a:t>• Provider-neutral monitoring surfaces</a:t>
            </a:r>
          </a:p>
          <a:p>
            <a:pPr algn="l"/>
            <a:r>
              <a:rPr lang="en-US" sz="1300">
                <a:solidFill>
                  <a:srgbClr val="A1C9C3"/>
                </a:solidFill>
                <a:latin typeface="Aptos"/>
              </a:rPr>
              <a:t>• Migration path to stronger identity + Postgres</a:t>
            </a:r>
          </a:p>
        </p:txBody>
      </p:sp>
    </p:spTree>
  </p:cSld>
  <p:transition spd="med">
    <p:fade/>
  </p:transition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" name="Shap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11F"/>
          </a:solidFill>
          <a:ln w="12000">
            <a:solidFill>
              <a:srgbClr val="07111F"/>
            </a:solidFill>
          </a:ln>
        </p:spPr>
      </p:sp>
      <p:sp>
        <p:nvSpPr>
          <p:cNvPr id="89" name="Shape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4D5B1"/>
          </a:solidFill>
          <a:ln w="12000">
            <a:solidFill>
              <a:srgbClr val="54D5B1"/>
            </a:solidFill>
          </a:ln>
        </p:spPr>
      </p:sp>
      <p:sp>
        <p:nvSpPr>
          <p:cNvPr id="90" name="Text"/>
          <p:cNvSpPr/>
          <p:nvPr/>
        </p:nvSpPr>
        <p:spPr>
          <a:xfrm>
            <a:off x="502920" y="384048"/>
            <a:ext cx="2560320" cy="274320"/>
          </a:xfrm>
        </p:spPr>
        <p:txBody>
          <a:bodyPr wrap="square"/>
          <a:lstStyle/>
          <a:p>
            <a:pPr algn="l"/>
            <a:r>
              <a:rPr lang="en-US" sz="1000" b="1">
                <a:solidFill>
                  <a:srgbClr val="62D7B1"/>
                </a:solidFill>
                <a:latin typeface="Aptos"/>
              </a:rPr>
              <a:t>AGENTSHIELD  /  DEMO</a:t>
            </a:r>
          </a:p>
        </p:txBody>
      </p:sp>
      <p:sp>
        <p:nvSpPr>
          <p:cNvPr id="91" name="Text"/>
          <p:cNvSpPr/>
          <p:nvPr/>
        </p:nvSpPr>
        <p:spPr>
          <a:xfrm>
            <a:off x="502920" y="786384"/>
            <a:ext cx="10789920" cy="530352"/>
          </a:xfrm>
        </p:spPr>
        <p:txBody>
          <a:bodyPr wrap="square"/>
          <a:lstStyle/>
          <a:p>
            <a:pPr algn="l"/>
            <a:r>
              <a:rPr lang="en-US" sz="2700" b="1">
                <a:solidFill>
                  <a:srgbClr val="F4F8FF"/>
                </a:solidFill>
                <a:latin typeface="Aptos"/>
              </a:rPr>
              <a:t>Impact: safer autonomy with evidence</a:t>
            </a:r>
          </a:p>
        </p:txBody>
      </p:sp>
      <p:sp>
        <p:nvSpPr>
          <p:cNvPr id="92" name="Text"/>
          <p:cNvSpPr/>
          <p:nvPr/>
        </p:nvSpPr>
        <p:spPr>
          <a:xfrm>
            <a:off x="530352" y="1389888"/>
            <a:ext cx="10515600" cy="320040"/>
          </a:xfrm>
        </p:spPr>
        <p:txBody>
          <a:bodyPr wrap="square"/>
          <a:lstStyle/>
          <a:p>
            <a:pPr algn="l"/>
            <a:r>
              <a:rPr lang="en-US" sz="1100">
                <a:solidFill>
                  <a:srgbClr val="8AA1B8"/>
                </a:solidFill>
                <a:latin typeface="Aptos"/>
              </a:rPr>
              <a:t>AgentShield turns invisible failure modes into visible, reviewable decisions.</a:t>
            </a:r>
          </a:p>
        </p:txBody>
      </p:sp>
      <p:sp>
        <p:nvSpPr>
          <p:cNvPr id="93" name="Text"/>
          <p:cNvSpPr/>
          <p:nvPr/>
        </p:nvSpPr>
        <p:spPr>
          <a:xfrm>
            <a:off x="11137392" y="411480"/>
            <a:ext cx="548640" cy="228600"/>
          </a:xfrm>
        </p:spPr>
        <p:txBody>
          <a:bodyPr wrap="square"/>
          <a:lstStyle/>
          <a:p>
            <a:pPr algn="r"/>
            <a:r>
              <a:rPr lang="en-US" sz="1100" b="1">
                <a:solidFill>
                  <a:srgbClr val="6D849B"/>
                </a:solidFill>
                <a:latin typeface="Aptos"/>
              </a:rPr>
              <a:t>05</a:t>
            </a:r>
          </a:p>
        </p:txBody>
      </p:sp>
      <p:sp>
        <p:nvSpPr>
          <p:cNvPr id="94" name="Line"/>
          <p:cNvSpPr/>
          <p:nvPr/>
        </p:nvSpPr>
        <p:spPr>
          <a:xfrm>
            <a:off x="502920" y="1874519"/>
            <a:ext cx="11155680" cy="9144"/>
          </a:xfrm>
          <a:prstGeom prst="line">
            <a:avLst/>
          </a:prstGeom>
          <a:ln w="12000">
            <a:solidFill>
              <a:srgbClr val="294966"/>
            </a:solidFill>
          </a:ln>
        </p:spPr>
      </p:sp>
      <p:sp>
        <p:nvSpPr>
          <p:cNvPr id="95" name="Text"/>
          <p:cNvSpPr/>
          <p:nvPr/>
        </p:nvSpPr>
        <p:spPr>
          <a:xfrm>
            <a:off x="502920" y="6510528"/>
            <a:ext cx="7315200" cy="164592"/>
          </a:xfrm>
        </p:spPr>
        <p:txBody>
          <a:bodyPr wrap="square"/>
          <a:lstStyle/>
          <a:p>
            <a:pPr algn="l"/>
            <a:r>
              <a:rPr lang="en-US" sz="800" b="1">
                <a:solidFill>
                  <a:srgbClr val="58738D"/>
                </a:solidFill>
                <a:latin typeface="Aptos"/>
              </a:rPr>
              <a:t>OUTCOME</a:t>
            </a:r>
          </a:p>
        </p:txBody>
      </p:sp>
      <p:sp>
        <p:nvSpPr>
          <p:cNvPr id="96" name="Text"/>
          <p:cNvSpPr/>
          <p:nvPr/>
        </p:nvSpPr>
        <p:spPr>
          <a:xfrm>
            <a:off x="10424160" y="6510528"/>
            <a:ext cx="1234440" cy="164592"/>
          </a:xfrm>
        </p:spPr>
        <p:txBody>
          <a:bodyPr wrap="square"/>
          <a:lstStyle/>
          <a:p>
            <a:pPr algn="r"/>
            <a:r>
              <a:rPr lang="en-US" sz="800" b="1">
                <a:solidFill>
                  <a:srgbClr val="58738D"/>
                </a:solidFill>
                <a:latin typeface="Aptos"/>
              </a:rPr>
              <a:t>DEFENSE IN DEPTH</a:t>
            </a:r>
          </a:p>
        </p:txBody>
      </p:sp>
      <p:sp>
        <p:nvSpPr>
          <p:cNvPr id="97" name="Shape"/>
          <p:cNvSpPr/>
          <p:nvPr/>
        </p:nvSpPr>
        <p:spPr>
          <a:xfrm>
            <a:off x="685800" y="2240280"/>
            <a:ext cx="3337560" cy="2560320"/>
          </a:xfrm>
          <a:prstGeom prst="roundRect">
            <a:avLst/>
          </a:prstGeom>
          <a:solidFill>
            <a:srgbClr val="0C1A2A"/>
          </a:solidFill>
          <a:ln w="12000">
            <a:solidFill>
              <a:srgbClr val="1C344C"/>
            </a:solidFill>
          </a:ln>
        </p:spPr>
      </p:sp>
      <p:sp>
        <p:nvSpPr>
          <p:cNvPr id="98" name="Text"/>
          <p:cNvSpPr/>
          <p:nvPr/>
        </p:nvSpPr>
        <p:spPr>
          <a:xfrm>
            <a:off x="941832" y="2542032"/>
            <a:ext cx="411480" cy="228600"/>
          </a:xfrm>
        </p:spPr>
        <p:txBody>
          <a:bodyPr wrap="square"/>
          <a:lstStyle/>
          <a:p>
            <a:pPr algn="l"/>
            <a:r>
              <a:rPr lang="en-US" sz="1100" b="1">
                <a:solidFill>
                  <a:srgbClr val="62D7B1"/>
                </a:solidFill>
                <a:latin typeface="Aptos"/>
              </a:rPr>
              <a:t>01</a:t>
            </a:r>
          </a:p>
        </p:txBody>
      </p:sp>
      <p:sp>
        <p:nvSpPr>
          <p:cNvPr id="99" name="Text"/>
          <p:cNvSpPr/>
          <p:nvPr/>
        </p:nvSpPr>
        <p:spPr>
          <a:xfrm>
            <a:off x="941832" y="2999232"/>
            <a:ext cx="2651760" cy="274320"/>
          </a:xfrm>
        </p:spPr>
        <p:txBody>
          <a:bodyPr wrap="square"/>
          <a:lstStyle/>
          <a:p>
            <a:pPr algn="l"/>
            <a:r>
              <a:rPr lang="en-US" sz="1800" b="1">
                <a:solidFill>
                  <a:srgbClr val="F5F8FF"/>
                </a:solidFill>
                <a:latin typeface="Aptos"/>
              </a:rPr>
              <a:t>CONTAIN</a:t>
            </a:r>
          </a:p>
        </p:txBody>
      </p:sp>
      <p:sp>
        <p:nvSpPr>
          <p:cNvPr id="100" name="Text"/>
          <p:cNvSpPr/>
          <p:nvPr/>
        </p:nvSpPr>
        <p:spPr>
          <a:xfrm>
            <a:off x="941832" y="3566160"/>
            <a:ext cx="2743200" cy="777240"/>
          </a:xfrm>
        </p:spPr>
        <p:txBody>
          <a:bodyPr wrap="square"/>
          <a:lstStyle/>
          <a:p>
            <a:pPr algn="l"/>
            <a:r>
              <a:rPr lang="en-US" sz="1200">
                <a:solidFill>
                  <a:srgbClr val="A8BBCD"/>
                </a:solidFill>
                <a:latin typeface="Aptos"/>
              </a:rPr>
              <a:t>Block prompt injection, secret access, restricted files, and unknown destinations.</a:t>
            </a:r>
          </a:p>
        </p:txBody>
      </p:sp>
      <p:sp>
        <p:nvSpPr>
          <p:cNvPr id="101" name="Shape"/>
          <p:cNvSpPr/>
          <p:nvPr/>
        </p:nvSpPr>
        <p:spPr>
          <a:xfrm>
            <a:off x="4480560" y="2240280"/>
            <a:ext cx="3337560" cy="2560320"/>
          </a:xfrm>
          <a:prstGeom prst="roundRect">
            <a:avLst/>
          </a:prstGeom>
          <a:solidFill>
            <a:srgbClr val="0C1A2A"/>
          </a:solidFill>
          <a:ln w="12000">
            <a:solidFill>
              <a:srgbClr val="1C344C"/>
            </a:solidFill>
          </a:ln>
        </p:spPr>
      </p:sp>
      <p:sp>
        <p:nvSpPr>
          <p:cNvPr id="102" name="Text"/>
          <p:cNvSpPr/>
          <p:nvPr/>
        </p:nvSpPr>
        <p:spPr>
          <a:xfrm>
            <a:off x="4736592" y="2542032"/>
            <a:ext cx="411480" cy="228600"/>
          </a:xfrm>
        </p:spPr>
        <p:txBody>
          <a:bodyPr wrap="square"/>
          <a:lstStyle/>
          <a:p>
            <a:pPr algn="l"/>
            <a:r>
              <a:rPr lang="en-US" sz="1100" b="1">
                <a:solidFill>
                  <a:srgbClr val="62D7B1"/>
                </a:solidFill>
                <a:latin typeface="Aptos"/>
              </a:rPr>
              <a:t>02</a:t>
            </a:r>
          </a:p>
        </p:txBody>
      </p:sp>
      <p:sp>
        <p:nvSpPr>
          <p:cNvPr id="103" name="Text"/>
          <p:cNvSpPr/>
          <p:nvPr/>
        </p:nvSpPr>
        <p:spPr>
          <a:xfrm>
            <a:off x="4736592" y="2999232"/>
            <a:ext cx="2651760" cy="274320"/>
          </a:xfrm>
        </p:spPr>
        <p:txBody>
          <a:bodyPr wrap="square"/>
          <a:lstStyle/>
          <a:p>
            <a:pPr algn="l"/>
            <a:r>
              <a:rPr lang="en-US" sz="1800" b="1">
                <a:solidFill>
                  <a:srgbClr val="F5F8FF"/>
                </a:solidFill>
                <a:latin typeface="Aptos"/>
              </a:rPr>
              <a:t>CONTROL</a:t>
            </a:r>
          </a:p>
        </p:txBody>
      </p:sp>
      <p:sp>
        <p:nvSpPr>
          <p:cNvPr id="104" name="Text"/>
          <p:cNvSpPr/>
          <p:nvPr/>
        </p:nvSpPr>
        <p:spPr>
          <a:xfrm>
            <a:off x="4736592" y="3566160"/>
            <a:ext cx="2743200" cy="777240"/>
          </a:xfrm>
        </p:spPr>
        <p:txBody>
          <a:bodyPr wrap="square"/>
          <a:lstStyle/>
          <a:p>
            <a:pPr algn="l"/>
            <a:r>
              <a:rPr lang="en-US" sz="1200">
                <a:solidFill>
                  <a:srgbClr val="A8BBCD"/>
                </a:solidFill>
                <a:latin typeface="Aptos"/>
              </a:rPr>
              <a:t>Route medium-risk actions to a human approval queue with hash-bound, single-use approvals.</a:t>
            </a:r>
          </a:p>
        </p:txBody>
      </p:sp>
      <p:sp>
        <p:nvSpPr>
          <p:cNvPr id="105" name="Shape"/>
          <p:cNvSpPr/>
          <p:nvPr/>
        </p:nvSpPr>
        <p:spPr>
          <a:xfrm>
            <a:off x="8275320" y="2240280"/>
            <a:ext cx="3337560" cy="2560320"/>
          </a:xfrm>
          <a:prstGeom prst="roundRect">
            <a:avLst/>
          </a:prstGeom>
          <a:solidFill>
            <a:srgbClr val="0C1A2A"/>
          </a:solidFill>
          <a:ln w="12000">
            <a:solidFill>
              <a:srgbClr val="1C344C"/>
            </a:solidFill>
          </a:ln>
        </p:spPr>
      </p:sp>
      <p:sp>
        <p:nvSpPr>
          <p:cNvPr id="106" name="Text"/>
          <p:cNvSpPr/>
          <p:nvPr/>
        </p:nvSpPr>
        <p:spPr>
          <a:xfrm>
            <a:off x="8531352" y="2542032"/>
            <a:ext cx="411480" cy="228600"/>
          </a:xfrm>
        </p:spPr>
        <p:txBody>
          <a:bodyPr wrap="square"/>
          <a:lstStyle/>
          <a:p>
            <a:pPr algn="l"/>
            <a:r>
              <a:rPr lang="en-US" sz="1100" b="1">
                <a:solidFill>
                  <a:srgbClr val="62D7B1"/>
                </a:solidFill>
                <a:latin typeface="Aptos"/>
              </a:rPr>
              <a:t>03</a:t>
            </a:r>
          </a:p>
        </p:txBody>
      </p:sp>
      <p:sp>
        <p:nvSpPr>
          <p:cNvPr id="107" name="Text"/>
          <p:cNvSpPr/>
          <p:nvPr/>
        </p:nvSpPr>
        <p:spPr>
          <a:xfrm>
            <a:off x="8531352" y="2999232"/>
            <a:ext cx="2651760" cy="274320"/>
          </a:xfrm>
        </p:spPr>
        <p:txBody>
          <a:bodyPr wrap="square"/>
          <a:lstStyle/>
          <a:p>
            <a:pPr algn="l"/>
            <a:r>
              <a:rPr lang="en-US" sz="1800" b="1">
                <a:solidFill>
                  <a:srgbClr val="F5F8FF"/>
                </a:solidFill>
                <a:latin typeface="Aptos"/>
              </a:rPr>
              <a:t>LEARN</a:t>
            </a:r>
          </a:p>
        </p:txBody>
      </p:sp>
      <p:sp>
        <p:nvSpPr>
          <p:cNvPr id="108" name="Text"/>
          <p:cNvSpPr/>
          <p:nvPr/>
        </p:nvSpPr>
        <p:spPr>
          <a:xfrm>
            <a:off x="8531352" y="3566160"/>
            <a:ext cx="2743200" cy="777240"/>
          </a:xfrm>
        </p:spPr>
        <p:txBody>
          <a:bodyPr wrap="square"/>
          <a:lstStyle/>
          <a:p>
            <a:pPr algn="l"/>
            <a:r>
              <a:rPr lang="en-US" sz="1200">
                <a:solidFill>
                  <a:srgbClr val="A8BBCD"/>
                </a:solidFill>
                <a:latin typeface="Aptos"/>
              </a:rPr>
              <a:t>Use redacted traces, risk factors, and policy matches to improve agent design and governance.</a:t>
            </a:r>
          </a:p>
        </p:txBody>
      </p:sp>
      <p:sp>
        <p:nvSpPr>
          <p:cNvPr id="109" name="Shape"/>
          <p:cNvSpPr/>
          <p:nvPr/>
        </p:nvSpPr>
        <p:spPr>
          <a:xfrm>
            <a:off x="685800" y="5166360"/>
            <a:ext cx="10835640" cy="502920"/>
          </a:xfrm>
          <a:prstGeom prst="roundRect">
            <a:avLst/>
          </a:prstGeom>
          <a:solidFill>
            <a:srgbClr val="173D39"/>
          </a:solidFill>
          <a:ln w="12000">
            <a:solidFill>
              <a:srgbClr val="2C6C5A"/>
            </a:solidFill>
          </a:ln>
        </p:spPr>
      </p:sp>
      <p:sp>
        <p:nvSpPr>
          <p:cNvPr id="110" name="Text"/>
          <p:cNvSpPr/>
          <p:nvPr/>
        </p:nvSpPr>
        <p:spPr>
          <a:xfrm>
            <a:off x="914400" y="5349240"/>
            <a:ext cx="10332720" cy="164592"/>
          </a:xfrm>
        </p:spPr>
        <p:txBody>
          <a:bodyPr wrap="square"/>
          <a:lstStyle/>
          <a:p>
            <a:pPr algn="c"/>
            <a:r>
              <a:rPr lang="en-US" sz="1200" b="1">
                <a:solidFill>
                  <a:srgbClr val="BEE9DD"/>
                </a:solidFill>
                <a:latin typeface="Aptos"/>
              </a:rPr>
              <a:t>NORTH STAR  /  Safe failure is better than silent autonomy.</a:t>
            </a:r>
          </a:p>
        </p:txBody>
      </p:sp>
    </p:spTree>
  </p:cSld>
  <p:transition spd="med">
    <p:fade/>
  </p:transition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1" name="Shap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11F"/>
          </a:solidFill>
          <a:ln w="12000">
            <a:solidFill>
              <a:srgbClr val="07111F"/>
            </a:solidFill>
          </a:ln>
        </p:spPr>
      </p:sp>
      <p:sp>
        <p:nvSpPr>
          <p:cNvPr id="112" name="Shape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4D5B1"/>
          </a:solidFill>
          <a:ln w="12000">
            <a:solidFill>
              <a:srgbClr val="54D5B1"/>
            </a:solidFill>
          </a:ln>
        </p:spPr>
      </p:sp>
      <p:sp>
        <p:nvSpPr>
          <p:cNvPr id="113" name="Text"/>
          <p:cNvSpPr/>
          <p:nvPr/>
        </p:nvSpPr>
        <p:spPr>
          <a:xfrm>
            <a:off x="502920" y="384048"/>
            <a:ext cx="2560320" cy="274320"/>
          </a:xfrm>
        </p:spPr>
        <p:txBody>
          <a:bodyPr wrap="square"/>
          <a:lstStyle/>
          <a:p>
            <a:pPr algn="l"/>
            <a:r>
              <a:rPr lang="en-US" sz="1000" b="1">
                <a:solidFill>
                  <a:srgbClr val="62D7B1"/>
                </a:solidFill>
                <a:latin typeface="Aptos"/>
              </a:rPr>
              <a:t>AGENTSHIELD  /  DEMO</a:t>
            </a:r>
          </a:p>
        </p:txBody>
      </p:sp>
      <p:sp>
        <p:nvSpPr>
          <p:cNvPr id="114" name="Text"/>
          <p:cNvSpPr/>
          <p:nvPr/>
        </p:nvSpPr>
        <p:spPr>
          <a:xfrm>
            <a:off x="502920" y="786384"/>
            <a:ext cx="10789920" cy="530352"/>
          </a:xfrm>
        </p:spPr>
        <p:txBody>
          <a:bodyPr wrap="square"/>
          <a:lstStyle/>
          <a:p>
            <a:pPr algn="l"/>
            <a:r>
              <a:rPr lang="en-US" sz="2700" b="1">
                <a:solidFill>
                  <a:srgbClr val="F4F8FF"/>
                </a:solidFill>
                <a:latin typeface="Aptos"/>
              </a:rPr>
              <a:t>Research &amp; references</a:t>
            </a:r>
          </a:p>
        </p:txBody>
      </p:sp>
      <p:sp>
        <p:nvSpPr>
          <p:cNvPr id="115" name="Text"/>
          <p:cNvSpPr/>
          <p:nvPr/>
        </p:nvSpPr>
        <p:spPr>
          <a:xfrm>
            <a:off x="530352" y="1389888"/>
            <a:ext cx="10515600" cy="320040"/>
          </a:xfrm>
        </p:spPr>
        <p:txBody>
          <a:bodyPr wrap="square"/>
          <a:lstStyle/>
          <a:p>
            <a:pPr algn="l"/>
            <a:r>
              <a:rPr lang="en-US" sz="1100">
                <a:solidFill>
                  <a:srgbClr val="8AA1B8"/>
                </a:solidFill>
                <a:latin typeface="Aptos"/>
              </a:rPr>
              <a:t>A practical MVP grounded in established AI security and risk-management guidance.</a:t>
            </a:r>
          </a:p>
        </p:txBody>
      </p:sp>
      <p:sp>
        <p:nvSpPr>
          <p:cNvPr id="116" name="Text"/>
          <p:cNvSpPr/>
          <p:nvPr/>
        </p:nvSpPr>
        <p:spPr>
          <a:xfrm>
            <a:off x="11137392" y="411480"/>
            <a:ext cx="548640" cy="228600"/>
          </a:xfrm>
        </p:spPr>
        <p:txBody>
          <a:bodyPr wrap="square"/>
          <a:lstStyle/>
          <a:p>
            <a:pPr algn="r"/>
            <a:r>
              <a:rPr lang="en-US" sz="1100" b="1">
                <a:solidFill>
                  <a:srgbClr val="6D849B"/>
                </a:solidFill>
                <a:latin typeface="Aptos"/>
              </a:rPr>
              <a:t>06</a:t>
            </a:r>
          </a:p>
        </p:txBody>
      </p:sp>
      <p:sp>
        <p:nvSpPr>
          <p:cNvPr id="117" name="Line"/>
          <p:cNvSpPr/>
          <p:nvPr/>
        </p:nvSpPr>
        <p:spPr>
          <a:xfrm>
            <a:off x="502920" y="1874519"/>
            <a:ext cx="11155680" cy="9144"/>
          </a:xfrm>
          <a:prstGeom prst="line">
            <a:avLst/>
          </a:prstGeom>
          <a:ln w="12000">
            <a:solidFill>
              <a:srgbClr val="294966"/>
            </a:solidFill>
          </a:ln>
        </p:spPr>
      </p:sp>
      <p:sp>
        <p:nvSpPr>
          <p:cNvPr id="118" name="Text"/>
          <p:cNvSpPr/>
          <p:nvPr/>
        </p:nvSpPr>
        <p:spPr>
          <a:xfrm>
            <a:off x="502920" y="6510528"/>
            <a:ext cx="7315200" cy="164592"/>
          </a:xfrm>
        </p:spPr>
        <p:txBody>
          <a:bodyPr wrap="square"/>
          <a:lstStyle/>
          <a:p>
            <a:pPr algn="l"/>
            <a:r>
              <a:rPr lang="en-US" sz="800" b="1">
                <a:solidFill>
                  <a:srgbClr val="58738D"/>
                </a:solidFill>
                <a:latin typeface="Aptos"/>
              </a:rPr>
              <a:t>EVIDENCE</a:t>
            </a:r>
          </a:p>
        </p:txBody>
      </p:sp>
      <p:sp>
        <p:nvSpPr>
          <p:cNvPr id="119" name="Text"/>
          <p:cNvSpPr/>
          <p:nvPr/>
        </p:nvSpPr>
        <p:spPr>
          <a:xfrm>
            <a:off x="10424160" y="6510528"/>
            <a:ext cx="1234440" cy="164592"/>
          </a:xfrm>
        </p:spPr>
        <p:txBody>
          <a:bodyPr wrap="square"/>
          <a:lstStyle/>
          <a:p>
            <a:pPr algn="r"/>
            <a:r>
              <a:rPr lang="en-US" sz="800" b="1">
                <a:solidFill>
                  <a:srgbClr val="58738D"/>
                </a:solidFill>
                <a:latin typeface="Aptos"/>
              </a:rPr>
              <a:t>DEFENSE IN DEPTH</a:t>
            </a:r>
          </a:p>
        </p:txBody>
      </p:sp>
      <p:sp>
        <p:nvSpPr>
          <p:cNvPr id="120" name="Shape"/>
          <p:cNvSpPr/>
          <p:nvPr/>
        </p:nvSpPr>
        <p:spPr>
          <a:xfrm>
            <a:off x="640080" y="2148840"/>
            <a:ext cx="5303520" cy="3429000"/>
          </a:xfrm>
          <a:prstGeom prst="roundRect">
            <a:avLst/>
          </a:prstGeom>
          <a:solidFill>
            <a:srgbClr val="0C1A2A"/>
          </a:solidFill>
          <a:ln w="12000">
            <a:solidFill>
              <a:srgbClr val="1C344C"/>
            </a:solidFill>
          </a:ln>
        </p:spPr>
      </p:sp>
      <p:sp>
        <p:nvSpPr>
          <p:cNvPr id="121" name="Text"/>
          <p:cNvSpPr/>
          <p:nvPr/>
        </p:nvSpPr>
        <p:spPr>
          <a:xfrm>
            <a:off x="914400" y="2468880"/>
            <a:ext cx="4572000" cy="274320"/>
          </a:xfrm>
        </p:spPr>
        <p:txBody>
          <a:bodyPr wrap="square"/>
          <a:lstStyle/>
          <a:p>
            <a:pPr algn="l"/>
            <a:r>
              <a:rPr lang="en-US" sz="1000" b="1">
                <a:solidFill>
                  <a:srgbClr val="62D7B1"/>
                </a:solidFill>
                <a:latin typeface="Aptos"/>
              </a:rPr>
              <a:t>RESEARCH BASIS</a:t>
            </a:r>
          </a:p>
        </p:txBody>
      </p:sp>
      <p:sp>
        <p:nvSpPr>
          <p:cNvPr id="122" name="Text"/>
          <p:cNvSpPr/>
          <p:nvPr/>
        </p:nvSpPr>
        <p:spPr>
          <a:xfrm>
            <a:off x="914400" y="2907792"/>
            <a:ext cx="4572000" cy="2057400"/>
          </a:xfrm>
        </p:spPr>
        <p:txBody>
          <a:bodyPr wrap="square"/>
          <a:lstStyle/>
          <a:p>
            <a:pPr algn="l"/>
            <a:r>
              <a:rPr lang="en-US" sz="1200">
                <a:solidFill>
                  <a:srgbClr val="DDE8F2"/>
                </a:solidFill>
                <a:latin typeface="Aptos"/>
              </a:rPr>
              <a:t>• OWASP — Top 10 for LLM Applications</a:t>
            </a:r>
          </a:p>
          <a:p>
            <a:pPr algn="l"/>
            <a:r>
              <a:rPr lang="en-US" sz="1200">
                <a:solidFill>
                  <a:srgbClr val="DDE8F2"/>
                </a:solidFill>
                <a:latin typeface="Aptos"/>
              </a:rPr>
              <a:t>• NIST — AI Risk Management Framework</a:t>
            </a:r>
          </a:p>
          <a:p>
            <a:pPr algn="l"/>
            <a:r>
              <a:rPr lang="en-US" sz="1200">
                <a:solidFill>
                  <a:srgbClr val="DDE8F2"/>
                </a:solidFill>
                <a:latin typeface="Aptos"/>
              </a:rPr>
              <a:t>• NIST — Secure Software Development Framework</a:t>
            </a:r>
          </a:p>
          <a:p>
            <a:pPr algn="l"/>
            <a:r>
              <a:rPr lang="en-US" sz="1200">
                <a:solidFill>
                  <a:srgbClr val="DDE8F2"/>
                </a:solidFill>
                <a:latin typeface="Aptos"/>
              </a:rPr>
              <a:t>• FastAPI + Pydantic security patterns</a:t>
            </a:r>
          </a:p>
          <a:p>
            <a:pPr algn="l"/>
            <a:r>
              <a:rPr lang="en-US" sz="1200">
                <a:solidFill>
                  <a:srgbClr val="DDE8F2"/>
                </a:solidFill>
                <a:latin typeface="Aptos"/>
              </a:rPr>
              <a:t>• SQLite / SQLAlchemy persistence patterns</a:t>
            </a:r>
          </a:p>
          <a:p>
            <a:pPr algn="l"/>
            <a:r>
              <a:rPr lang="en-US" sz="1200">
                <a:solidFill>
                  <a:srgbClr val="DDE8F2"/>
                </a:solidFill>
                <a:latin typeface="Aptos"/>
              </a:rPr>
              <a:t>• Internal deterministic test suite: 188 backend tests, 28 frontend tests</a:t>
            </a:r>
          </a:p>
        </p:txBody>
      </p:sp>
      <p:sp>
        <p:nvSpPr>
          <p:cNvPr id="123" name="Shape"/>
          <p:cNvSpPr/>
          <p:nvPr/>
        </p:nvSpPr>
        <p:spPr>
          <a:xfrm>
            <a:off x="6217920" y="2148840"/>
            <a:ext cx="5257800" cy="3429000"/>
          </a:xfrm>
          <a:prstGeom prst="roundRect">
            <a:avLst/>
          </a:prstGeom>
          <a:solidFill>
            <a:srgbClr val="111B2B"/>
          </a:solidFill>
          <a:ln w="12000">
            <a:solidFill>
              <a:srgbClr val="2A4461"/>
            </a:solidFill>
          </a:ln>
        </p:spPr>
      </p:sp>
      <p:sp>
        <p:nvSpPr>
          <p:cNvPr id="124" name="Text"/>
          <p:cNvSpPr/>
          <p:nvPr/>
        </p:nvSpPr>
        <p:spPr>
          <a:xfrm>
            <a:off x="6492240" y="2468880"/>
            <a:ext cx="4572000" cy="274320"/>
          </a:xfrm>
        </p:spPr>
        <p:txBody>
          <a:bodyPr wrap="square"/>
          <a:lstStyle/>
          <a:p>
            <a:pPr algn="l"/>
            <a:r>
              <a:rPr lang="en-US" sz="1000" b="1">
                <a:solidFill>
                  <a:srgbClr val="62D7B1"/>
                </a:solidFill>
                <a:latin typeface="Aptos"/>
              </a:rPr>
              <a:t>REFERENCE LINKS</a:t>
            </a:r>
          </a:p>
        </p:txBody>
      </p:sp>
      <p:sp>
        <p:nvSpPr>
          <p:cNvPr id="125" name="Text"/>
          <p:cNvSpPr/>
          <p:nvPr/>
        </p:nvSpPr>
        <p:spPr>
          <a:xfrm>
            <a:off x="6492240" y="2907792"/>
            <a:ext cx="4572000" cy="2148840"/>
          </a:xfrm>
        </p:spPr>
        <p:txBody>
          <a:bodyPr wrap="square"/>
          <a:lstStyle/>
          <a:p>
            <a:pPr algn="l"/>
            <a:r>
              <a:rPr lang="en-US" sz="1100">
                <a:solidFill>
                  <a:srgbClr val="A8BBCD"/>
                </a:solidFill>
                <a:latin typeface="Aptos"/>
              </a:rPr>
              <a:t>owasp.org/www-project-top-10-for-large-language-model-applications</a:t>
            </a:r>
          </a:p>
          <a:p>
            <a:pPr algn="l"/>
            <a:r>
              <a:rPr lang="en-US" sz="1100">
                <a:solidFill>
                  <a:srgbClr val="A8BBCD"/>
                </a:solidFill>
                <a:latin typeface="Aptos"/>
              </a:rPr>
              <a:t>nist.gov/itl/ai-risk-management-framework</a:t>
            </a:r>
          </a:p>
          <a:p>
            <a:pPr algn="l"/>
            <a:r>
              <a:rPr lang="en-US" sz="1100">
                <a:solidFill>
                  <a:srgbClr val="A8BBCD"/>
                </a:solidFill>
                <a:latin typeface="Aptos"/>
              </a:rPr>
              <a:t>nist.gov/itl/ssd</a:t>
            </a:r>
          </a:p>
          <a:p>
            <a:pPr algn="l"/>
            <a:r>
              <a:rPr lang="en-US" sz="1100">
                <a:solidFill>
                  <a:srgbClr val="A8BBCD"/>
                </a:solidFill>
                <a:latin typeface="Aptos"/>
              </a:rPr>
              <a:t>fastapi.tiangolo.com</a:t>
            </a:r>
          </a:p>
          <a:p>
            <a:pPr algn="l"/>
            <a:r>
              <a:rPr lang="en-US" sz="1100">
                <a:solidFill>
                  <a:srgbClr val="A8BBCD"/>
                </a:solidFill>
                <a:latin typeface="Aptos"/>
              </a:rPr>
              <a:t>pydantic.dev</a:t>
            </a:r>
          </a:p>
          <a:p>
            <a:pPr algn="l"/>
            <a:r>
              <a:rPr lang="en-US" sz="1100">
                <a:solidFill>
                  <a:srgbClr val="A8BBCD"/>
                </a:solidFill>
                <a:latin typeface="Aptos"/>
              </a:rPr>
              <a:t>sqlalchemy.org</a:t>
            </a:r>
          </a:p>
        </p:txBody>
      </p:sp>
      <p:sp>
        <p:nvSpPr>
          <p:cNvPr id="126" name="Text"/>
          <p:cNvSpPr/>
          <p:nvPr/>
        </p:nvSpPr>
        <p:spPr>
          <a:xfrm>
            <a:off x="685800" y="5989320"/>
            <a:ext cx="10789920" cy="228600"/>
          </a:xfrm>
        </p:spPr>
        <p:txBody>
          <a:bodyPr wrap="square"/>
          <a:lstStyle/>
          <a:p>
            <a:pPr algn="c"/>
            <a:r>
              <a:rPr lang="en-US" sz="1200" b="1">
                <a:solidFill>
                  <a:srgbClr val="E8BF76"/>
                </a:solidFill>
                <a:latin typeface="Aptos"/>
              </a:rPr>
              <a:t>Limit: detection is defense in depth—not proof of safety or perfect security.</a:t>
            </a:r>
          </a:p>
        </p:txBody>
      </p:sp>
    </p:spTree>
  </p:cSld>
  <p:transition spd="med">
    <p:fade/>
  </p:transition>
  <p:clrMapOvr>
    <a:masterClrMapping/>
  </p:clrMapOvr>
</p:sld>
</file>

<file path=ppt/theme/theme1.xml><?xml version="1.0" encoding="utf-8"?>
<a:theme xmlns:a="http://schemas.openxmlformats.org/drawingml/2006/main" name="AgentShield">
  <a:themeElements>
    <a:clrScheme name="AgentShield">
      <a:dk1>
        <a:sysClr val="windowText" lastClr="000000"/>
      </a:dk1>
      <a:lt1>
        <a:sysClr val="window" lastClr="FFFFFF"/>
      </a:lt1>
      <a:accent1>
        <a:srgbClr val="54D5B1"/>
      </a:accent1>
      <a:accent2>
        <a:srgbClr val="EA747E"/>
      </a:accent2>
      <a:accent3>
        <a:srgbClr val="E8BF76"/>
      </a:accent3>
      <a:accent4>
        <a:srgbClr val="77B9E8"/>
      </a:accent4>
      <a:accent5>
        <a:srgbClr val="9E83D4"/>
      </a:accent5>
      <a:accent6>
        <a:srgbClr val="F3A35C"/>
      </a:accent6>
      <a:hlink>
        <a:srgbClr val="54D5B1"/>
      </a:hlink>
      <a:folHlink>
        <a:srgbClr val="EA747E"/>
      </a:folHlink>
    </a:clrScheme>
    <a:fontScheme name="AgentShield">
      <a:majorFont>
        <a:latin typeface="Aptos Display"/>
      </a:majorFont>
      <a:minorFont>
        <a:latin typeface="Aptos"/>
      </a:minorFont>
    </a:fontScheme>
    <a:fmtScheme name="AgentShield">
      <a:fillStyleLst/>
      <a:lnStyleLst/>
      <a:effectStyleLst/>
      <a:bgFillStyleLst/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AgentShield Demo Deck</dc:title>
  <dc:subject>Runtime security firewall for AI agents</dc:subject>
  <dc:creator>AgentShield Team</dc:creator>
</cp:coreProperties>
</file>